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9"/>
  </p:notesMasterIdLst>
  <p:sldIdLst>
    <p:sldId id="256" r:id="rId2"/>
    <p:sldId id="257" r:id="rId3"/>
    <p:sldId id="263" r:id="rId4"/>
    <p:sldId id="259" r:id="rId5"/>
    <p:sldId id="261" r:id="rId6"/>
    <p:sldId id="265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40BE"/>
    <a:srgbClr val="7C37A3"/>
    <a:srgbClr val="743498"/>
    <a:srgbClr val="6D318F"/>
    <a:srgbClr val="7B3D6F"/>
    <a:srgbClr val="B163A2"/>
    <a:srgbClr val="ED3B98"/>
    <a:srgbClr val="D9D9D9"/>
    <a:srgbClr val="A02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39" autoAdjust="0"/>
    <p:restoredTop sz="88136" autoAdjust="0"/>
  </p:normalViewPr>
  <p:slideViewPr>
    <p:cSldViewPr snapToGrid="0">
      <p:cViewPr varScale="1">
        <p:scale>
          <a:sx n="97" d="100"/>
          <a:sy n="97" d="100"/>
        </p:scale>
        <p:origin x="138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5T18:22:05.86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288.81738"/>
      <inkml:brushProperty name="anchorY" value="-7048.78564"/>
      <inkml:brushProperty name="scaleFactor" value="0.5"/>
    </inkml:brush>
  </inkml:definitions>
  <inkml:trace contextRef="#ctx0" brushRef="#br0">0 1 24575,'0'0'0,"0"6"0,0 9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08AAD-6BE8-4646-91F0-75404E4B9A06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C4EF4-A875-453F-9B0E-7E858F89ED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1756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C4EF4-A875-453F-9B0E-7E858F89ED21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119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Célkitűzés 2. pont: (pl. regisztráltak, elégedett ügyfelek száma). 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C4EF4-A875-453F-9B0E-7E858F89ED21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1923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C4EF4-A875-453F-9B0E-7E858F89ED21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2511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C4EF4-A875-453F-9B0E-7E858F89ED21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6833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C4EF4-A875-453F-9B0E-7E858F89ED21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23946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406C5-7CC8-66E0-C968-C4BA4DB2B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135028B7-CB6B-67CD-D6B3-24B211BAB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90FA382E-2F65-2918-B164-ECDFAC516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7107FC2-FFF8-F864-57E7-CDEBBD7AB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C4EF4-A875-453F-9B0E-7E858F89ED21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7643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C4EF4-A875-453F-9B0E-7E858F89ED21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9466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E7D7AE-FD90-DF97-3EBA-1E8374D1C6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DE01DA0-A961-7019-0B48-92B7FAF3E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5068C2C-71F9-BFA8-9075-B77DF175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A6DDAEF-1DF2-9DEF-F8EF-7555D6BB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37827AE-6446-904B-848B-C5D50C64D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0723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6D865E-0AEB-BF69-CDC4-56C4B3C35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79B9A3-3E53-2CF8-2B97-1AB6FCDCC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887DDB-4C15-6379-DD54-E92AA47B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B0F51DF-727A-4A46-271A-1888440A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9AFA19-EF8D-7678-090C-8C5A7B5A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481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6D2C03-45B8-90C4-D3DF-FD4A5019E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A24914D-5B1F-1C64-2341-A0C14E24A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B886AD4-52C0-0B6C-D706-7E1B314D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DD6318-F391-C705-3945-FCA370F8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F0BD44F-C34A-1E31-9A7B-019733540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614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EF5001-7A1E-390B-5DB2-FD8CC310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82ED99-483F-77BA-BE47-AA32FD1A6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35F4550-9A5F-6134-F962-7F9ACC778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BAEC23D-FC42-EF60-0608-20230091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D91CF70-4626-A578-35D5-BE4CDA880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75D5A2-3E73-C1BA-B6A4-130E3A0B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560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F9B63D-8C32-5A25-CDBB-9066EA03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F065ADF-2C2B-BBB6-DBB5-791BF7D9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AE386C5-02EC-57D9-B547-FFE988291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9031D09-387D-0F1B-7E51-C3F784FA3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8B7CC4F6-5036-6C44-0CCC-D89836BE8C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EC42DB9-A6C1-50CB-DBC2-82D6DB7F9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3E1A1251-E6D5-0259-0959-EA0DBC22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2074691-9A4A-F191-1406-414EA6B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487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5E8581B-E969-ADD3-70AC-F13F00A2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617E711-54D3-720B-2E55-C692F32F3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F407A78-4900-25BC-3CCF-19603EF0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6C9BC58-9CD8-23C4-157B-0BF324C0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130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97C4BB8-3374-0DDE-6C9C-0F399A8D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5C50B05-4CFE-34AA-0BC5-906C8891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33BAAB9-4A4C-C380-AE58-857BC890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8067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4CEAE6-8256-CCA8-6C67-29F9EF2A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4742AD-F856-0782-01E6-1930162E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DCD13B6-3E2D-39A8-92A9-E994E90DD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5115F3B-5DDD-B7BF-E9A1-D7069431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CCCF237-E6FF-1831-D388-EB59BDF9E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143D3B0-3ADF-8D29-BE11-3CFE103A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907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733A4F-1E51-E638-A47E-F30DFA91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549DAD5-C0CD-F025-6557-C31E88FFF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9C6E674-40D4-A7E3-82BA-B8D8559789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2F9C557-62D4-6C34-D3A9-330DE2F8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E7B54F4-DC19-908D-3D75-1856F475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F7AE1ED-6ADE-B8A9-111F-AB71C31A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242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E2BA63-5987-B7D9-8FF2-A966648D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70AEA61-FD3E-3452-A891-E45F1C1E9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D8EE5C9-B3FB-00A9-C8D6-E398C9E3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98583E6-968C-9820-139D-3EEAEF137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B91BBD7-0832-01D9-DB2F-C36502931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156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463D1683-A3D5-26DC-CF80-A2DED5653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6846831-78C9-B858-E2E4-6661983B4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8850A46-EAE5-E41E-D92E-6D8EC891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E82025-5F7F-63EC-A4A2-788E6D62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489A1EA-392C-93C8-A4DF-6226DD2D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944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912E3CE-8AE9-29E5-917A-37DCD6271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38583A8-7B78-34D0-0FEB-90ECA55BD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1BC2210-B305-8A9B-4578-08FC2511AF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81708B-DA75-4ED8-9E3C-56C7A32F773F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AB4D29-4F50-51FC-9C04-A54FF6A2E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9EFB8B7-8016-9C62-419F-1FDD37642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5D648-597F-41E7-B714-C3BFF72C213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338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8.png"/><Relationship Id="rId18" Type="http://schemas.openxmlformats.org/officeDocument/2006/relationships/slide" Target="slide4.xml"/><Relationship Id="rId3" Type="http://schemas.openxmlformats.org/officeDocument/2006/relationships/customXml" Target="../ink/ink1.xml"/><Relationship Id="rId21" Type="http://schemas.openxmlformats.org/officeDocument/2006/relationships/image" Target="../media/image13.svg"/><Relationship Id="rId7" Type="http://schemas.openxmlformats.org/officeDocument/2006/relationships/image" Target="../media/image3.svg"/><Relationship Id="rId12" Type="http://schemas.openxmlformats.org/officeDocument/2006/relationships/image" Target="../media/image7.sv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svg"/><Relationship Id="rId20" Type="http://schemas.openxmlformats.org/officeDocument/2006/relationships/slide" Target="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slide" Target="slide2.xml"/><Relationship Id="rId5" Type="http://schemas.openxmlformats.org/officeDocument/2006/relationships/image" Target="../media/image1.svg"/><Relationship Id="rId15" Type="http://schemas.openxmlformats.org/officeDocument/2006/relationships/slide" Target="slide3.xml"/><Relationship Id="rId23" Type="http://schemas.openxmlformats.org/officeDocument/2006/relationships/image" Target="../media/image14.svg"/><Relationship Id="rId10" Type="http://schemas.openxmlformats.org/officeDocument/2006/relationships/image" Target="../media/image6.svg"/><Relationship Id="rId19" Type="http://schemas.openxmlformats.org/officeDocument/2006/relationships/image" Target="../media/image12.svg"/><Relationship Id="rId4" Type="http://schemas.openxmlformats.org/officeDocument/2006/relationships/image" Target="../media/image1.png"/><Relationship Id="rId9" Type="http://schemas.openxmlformats.org/officeDocument/2006/relationships/image" Target="../media/image5.svg"/><Relationship Id="rId14" Type="http://schemas.openxmlformats.org/officeDocument/2006/relationships/image" Target="../media/image9.svg"/><Relationship Id="rId22" Type="http://schemas.openxmlformats.org/officeDocument/2006/relationships/slide" Target="slide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0.svg"/><Relationship Id="rId18" Type="http://schemas.openxmlformats.org/officeDocument/2006/relationships/image" Target="../media/image13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slide" Target="slide3.xml"/><Relationship Id="rId17" Type="http://schemas.openxmlformats.org/officeDocument/2006/relationships/slide" Target="slide7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svg"/><Relationship Id="rId20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7.svg"/><Relationship Id="rId5" Type="http://schemas.openxmlformats.org/officeDocument/2006/relationships/image" Target="../media/image3.svg"/><Relationship Id="rId15" Type="http://schemas.openxmlformats.org/officeDocument/2006/relationships/slide" Target="slide4.xml"/><Relationship Id="rId10" Type="http://schemas.openxmlformats.org/officeDocument/2006/relationships/slide" Target="slide2.xml"/><Relationship Id="rId19" Type="http://schemas.openxmlformats.org/officeDocument/2006/relationships/slide" Target="slide5.xml"/><Relationship Id="rId4" Type="http://schemas.openxmlformats.org/officeDocument/2006/relationships/image" Target="../media/image2.svg"/><Relationship Id="rId9" Type="http://schemas.openxmlformats.org/officeDocument/2006/relationships/image" Target="../media/image8.png"/><Relationship Id="rId1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slide" Target="slide4.xml"/><Relationship Id="rId18" Type="http://schemas.openxmlformats.org/officeDocument/2006/relationships/image" Target="../media/image14.svg"/><Relationship Id="rId3" Type="http://schemas.openxmlformats.org/officeDocument/2006/relationships/image" Target="../media/image7.svg"/><Relationship Id="rId7" Type="http://schemas.openxmlformats.org/officeDocument/2006/relationships/image" Target="../media/image3.svg"/><Relationship Id="rId12" Type="http://schemas.openxmlformats.org/officeDocument/2006/relationships/image" Target="../media/image11.svg"/><Relationship Id="rId17" Type="http://schemas.openxmlformats.org/officeDocument/2006/relationships/slide" Target="slide5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image" Target="../media/image9.svg"/><Relationship Id="rId5" Type="http://schemas.openxmlformats.org/officeDocument/2006/relationships/image" Target="../media/image1.svg"/><Relationship Id="rId15" Type="http://schemas.openxmlformats.org/officeDocument/2006/relationships/slide" Target="slide7.xml"/><Relationship Id="rId10" Type="http://schemas.openxmlformats.org/officeDocument/2006/relationships/slide" Target="slide2.xml"/><Relationship Id="rId4" Type="http://schemas.openxmlformats.org/officeDocument/2006/relationships/image" Target="../media/image6.svg"/><Relationship Id="rId9" Type="http://schemas.openxmlformats.org/officeDocument/2006/relationships/image" Target="../media/image5.svg"/><Relationship Id="rId1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slide" Target="slide7.xml"/><Relationship Id="rId3" Type="http://schemas.openxmlformats.org/officeDocument/2006/relationships/image" Target="../media/image7.svg"/><Relationship Id="rId7" Type="http://schemas.openxmlformats.org/officeDocument/2006/relationships/image" Target="../media/image4.sv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slide" Target="slide3.xml"/><Relationship Id="rId5" Type="http://schemas.openxmlformats.org/officeDocument/2006/relationships/image" Target="../media/image1.svg"/><Relationship Id="rId15" Type="http://schemas.openxmlformats.org/officeDocument/2006/relationships/slide" Target="slide5.xml"/><Relationship Id="rId10" Type="http://schemas.openxmlformats.org/officeDocument/2006/relationships/image" Target="../media/image9.svg"/><Relationship Id="rId4" Type="http://schemas.openxmlformats.org/officeDocument/2006/relationships/image" Target="../media/image6.svg"/><Relationship Id="rId9" Type="http://schemas.openxmlformats.org/officeDocument/2006/relationships/slide" Target="slide2.xml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10.svg"/><Relationship Id="rId18" Type="http://schemas.openxmlformats.org/officeDocument/2006/relationships/image" Target="../media/image13.svg"/><Relationship Id="rId3" Type="http://schemas.openxmlformats.org/officeDocument/2006/relationships/image" Target="../media/image15.png"/><Relationship Id="rId21" Type="http://schemas.openxmlformats.org/officeDocument/2006/relationships/image" Target="../media/image18.png"/><Relationship Id="rId7" Type="http://schemas.openxmlformats.org/officeDocument/2006/relationships/image" Target="../media/image2.svg"/><Relationship Id="rId12" Type="http://schemas.openxmlformats.org/officeDocument/2006/relationships/slide" Target="slide3.xml"/><Relationship Id="rId17" Type="http://schemas.openxmlformats.org/officeDocument/2006/relationships/slide" Target="slide7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.sv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11" Type="http://schemas.openxmlformats.org/officeDocument/2006/relationships/image" Target="../media/image9.svg"/><Relationship Id="rId5" Type="http://schemas.openxmlformats.org/officeDocument/2006/relationships/image" Target="../media/image6.svg"/><Relationship Id="rId15" Type="http://schemas.openxmlformats.org/officeDocument/2006/relationships/slide" Target="slide4.xml"/><Relationship Id="rId10" Type="http://schemas.openxmlformats.org/officeDocument/2006/relationships/slide" Target="slide2.xml"/><Relationship Id="rId19" Type="http://schemas.openxmlformats.org/officeDocument/2006/relationships/image" Target="../media/image16.png"/><Relationship Id="rId4" Type="http://schemas.openxmlformats.org/officeDocument/2006/relationships/image" Target="../media/image7.svg"/><Relationship Id="rId9" Type="http://schemas.openxmlformats.org/officeDocument/2006/relationships/image" Target="../media/image5.svg"/><Relationship Id="rId1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9.svg"/><Relationship Id="rId18" Type="http://schemas.openxmlformats.org/officeDocument/2006/relationships/image" Target="../media/image12.svg"/><Relationship Id="rId3" Type="http://schemas.openxmlformats.org/officeDocument/2006/relationships/image" Target="../media/image15.png"/><Relationship Id="rId21" Type="http://schemas.openxmlformats.org/officeDocument/2006/relationships/image" Target="../media/image4.svg"/><Relationship Id="rId7" Type="http://schemas.openxmlformats.org/officeDocument/2006/relationships/image" Target="../media/image7.svg"/><Relationship Id="rId12" Type="http://schemas.openxmlformats.org/officeDocument/2006/relationships/slide" Target="slide2.xml"/><Relationship Id="rId17" Type="http://schemas.openxmlformats.org/officeDocument/2006/relationships/slide" Target="slide4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.svg"/><Relationship Id="rId20" Type="http://schemas.openxmlformats.org/officeDocument/2006/relationships/image" Target="../media/image13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5.svg"/><Relationship Id="rId5" Type="http://schemas.openxmlformats.org/officeDocument/2006/relationships/image" Target="../media/image17.png"/><Relationship Id="rId15" Type="http://schemas.openxmlformats.org/officeDocument/2006/relationships/image" Target="../media/image10.svg"/><Relationship Id="rId23" Type="http://schemas.openxmlformats.org/officeDocument/2006/relationships/hyperlink" Target="https://villammelo.hu/" TargetMode="External"/><Relationship Id="rId10" Type="http://schemas.openxmlformats.org/officeDocument/2006/relationships/image" Target="../media/image2.svg"/><Relationship Id="rId19" Type="http://schemas.openxmlformats.org/officeDocument/2006/relationships/slide" Target="slide7.xml"/><Relationship Id="rId4" Type="http://schemas.openxmlformats.org/officeDocument/2006/relationships/image" Target="../media/image16.png"/><Relationship Id="rId9" Type="http://schemas.openxmlformats.org/officeDocument/2006/relationships/image" Target="../media/image1.svg"/><Relationship Id="rId14" Type="http://schemas.openxmlformats.org/officeDocument/2006/relationships/slide" Target="slide3.xml"/><Relationship Id="rId22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1.svg"/><Relationship Id="rId18" Type="http://schemas.openxmlformats.org/officeDocument/2006/relationships/image" Target="../media/image19.png"/><Relationship Id="rId3" Type="http://schemas.openxmlformats.org/officeDocument/2006/relationships/image" Target="../media/image7.svg"/><Relationship Id="rId21" Type="http://schemas.openxmlformats.org/officeDocument/2006/relationships/hyperlink" Target="https://villammelo.hu/" TargetMode="External"/><Relationship Id="rId7" Type="http://schemas.openxmlformats.org/officeDocument/2006/relationships/image" Target="../media/image4.svg"/><Relationship Id="rId12" Type="http://schemas.openxmlformats.org/officeDocument/2006/relationships/image" Target="../media/image10.svg"/><Relationship Id="rId1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6" Type="http://schemas.openxmlformats.org/officeDocument/2006/relationships/slide" Target="slide5.xml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slide" Target="slide3.xml"/><Relationship Id="rId24" Type="http://schemas.openxmlformats.org/officeDocument/2006/relationships/image" Target="../media/image18.png"/><Relationship Id="rId5" Type="http://schemas.openxmlformats.org/officeDocument/2006/relationships/image" Target="../media/image1.svg"/><Relationship Id="rId15" Type="http://schemas.openxmlformats.org/officeDocument/2006/relationships/image" Target="../media/image12.svg"/><Relationship Id="rId23" Type="http://schemas.openxmlformats.org/officeDocument/2006/relationships/image" Target="../media/image17.png"/><Relationship Id="rId10" Type="http://schemas.openxmlformats.org/officeDocument/2006/relationships/image" Target="../media/image9.svg"/><Relationship Id="rId19" Type="http://schemas.microsoft.com/office/2007/relationships/hdphoto" Target="../media/hdphoto1.wdp"/><Relationship Id="rId4" Type="http://schemas.openxmlformats.org/officeDocument/2006/relationships/image" Target="../media/image6.svg"/><Relationship Id="rId9" Type="http://schemas.openxmlformats.org/officeDocument/2006/relationships/slide" Target="slide2.xml"/><Relationship Id="rId14" Type="http://schemas.openxmlformats.org/officeDocument/2006/relationships/slide" Target="slide4.xml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7124BC16-08EA-B540-0BBF-3B5CB14F875E}"/>
              </a:ext>
            </a:extLst>
          </p:cNvPr>
          <p:cNvSpPr/>
          <p:nvPr/>
        </p:nvSpPr>
        <p:spPr>
          <a:xfrm>
            <a:off x="0" y="0"/>
            <a:ext cx="12191640" cy="6858000"/>
          </a:xfrm>
          <a:prstGeom prst="rect">
            <a:avLst/>
          </a:prstGeom>
          <a:gradFill>
            <a:gsLst>
              <a:gs pos="74000">
                <a:srgbClr val="9140BE"/>
              </a:gs>
              <a:gs pos="87000">
                <a:srgbClr val="743498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4" name="Szabadkézi sokszög: alakzat 43">
            <a:extLst>
              <a:ext uri="{FF2B5EF4-FFF2-40B4-BE49-F238E27FC236}">
                <a16:creationId xmlns:a16="http://schemas.microsoft.com/office/drawing/2014/main" id="{1143F1ED-5EB3-4F92-4719-2AF5C25071AC}"/>
              </a:ext>
            </a:extLst>
          </p:cNvPr>
          <p:cNvSpPr/>
          <p:nvPr/>
        </p:nvSpPr>
        <p:spPr>
          <a:xfrm>
            <a:off x="-12700" y="-11783699"/>
            <a:ext cx="1236896" cy="21165363"/>
          </a:xfrm>
          <a:custGeom>
            <a:avLst/>
            <a:gdLst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7" fmla="*/ 1230945 w 1230945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83691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31487"/>
              <a:gd name="csY0" fmla="*/ 0 h 21165363"/>
              <a:gd name="csX1" fmla="*/ 1230945 w 1231487"/>
              <a:gd name="csY1" fmla="*/ 9483691 h 21165363"/>
              <a:gd name="csX2" fmla="*/ 579101 w 1231487"/>
              <a:gd name="csY2" fmla="*/ 10629579 h 21165363"/>
              <a:gd name="csX3" fmla="*/ 1230945 w 1231487"/>
              <a:gd name="csY3" fmla="*/ 11741211 h 21165363"/>
              <a:gd name="csX4" fmla="*/ 1230945 w 1231487"/>
              <a:gd name="csY4" fmla="*/ 21165363 h 21165363"/>
              <a:gd name="csX5" fmla="*/ 0 w 1231487"/>
              <a:gd name="csY5" fmla="*/ 21165363 h 21165363"/>
              <a:gd name="csX6" fmla="*/ 0 w 1231487"/>
              <a:gd name="csY6" fmla="*/ 0 h 21165363"/>
              <a:gd name="csX7" fmla="*/ 1230945 w 1231487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6896" h="21165363">
                <a:moveTo>
                  <a:pt x="1230945" y="0"/>
                </a:moveTo>
                <a:cubicBezTo>
                  <a:pt x="1230945" y="3158848"/>
                  <a:pt x="1244335" y="8705073"/>
                  <a:pt x="1230945" y="9483691"/>
                </a:cubicBezTo>
                <a:cubicBezTo>
                  <a:pt x="1217555" y="10262309"/>
                  <a:pt x="579101" y="10253326"/>
                  <a:pt x="579101" y="10629579"/>
                </a:cubicBezTo>
                <a:cubicBezTo>
                  <a:pt x="579101" y="11005832"/>
                  <a:pt x="1234223" y="10971091"/>
                  <a:pt x="1230945" y="11741211"/>
                </a:cubicBezTo>
                <a:cubicBezTo>
                  <a:pt x="1227667" y="12511331"/>
                  <a:pt x="1230945" y="18023979"/>
                  <a:pt x="1230945" y="21165363"/>
                </a:cubicBezTo>
                <a:lnTo>
                  <a:pt x="0" y="21165363"/>
                </a:lnTo>
                <a:lnTo>
                  <a:pt x="0" y="0"/>
                </a:lnTo>
                <a:lnTo>
                  <a:pt x="1230945" y="0"/>
                </a:lnTo>
                <a:close/>
              </a:path>
            </a:pathLst>
          </a:custGeom>
          <a:solidFill>
            <a:srgbClr val="7B3D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4" name="Szabadkéz 3">
                <a:extLst>
                  <a:ext uri="{FF2B5EF4-FFF2-40B4-BE49-F238E27FC236}">
                    <a16:creationId xmlns:a16="http://schemas.microsoft.com/office/drawing/2014/main" id="{7C666981-A23C-6D0D-A1ED-B93B2D0865AB}"/>
                  </a:ext>
                </a:extLst>
              </p14:cNvPr>
              <p14:cNvContentPartPr/>
              <p14:nvPr/>
            </p14:nvContentPartPr>
            <p14:xfrm>
              <a:off x="5410340" y="-736960"/>
              <a:ext cx="360" cy="13320"/>
            </p14:xfrm>
          </p:contentPart>
        </mc:Choice>
        <mc:Fallback xmlns="">
          <p:pic>
            <p:nvPicPr>
              <p:cNvPr id="4" name="Szabadkéz 3">
                <a:extLst>
                  <a:ext uri="{FF2B5EF4-FFF2-40B4-BE49-F238E27FC236}">
                    <a16:creationId xmlns:a16="http://schemas.microsoft.com/office/drawing/2014/main" id="{7C666981-A23C-6D0D-A1ED-B93B2D0865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1340" y="-745600"/>
                <a:ext cx="18000" cy="3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Csoportba foglalás 56">
            <a:extLst>
              <a:ext uri="{FF2B5EF4-FFF2-40B4-BE49-F238E27FC236}">
                <a16:creationId xmlns:a16="http://schemas.microsoft.com/office/drawing/2014/main" id="{BDEC03F8-6D82-5648-9DDE-630A0C0FD0F7}"/>
              </a:ext>
            </a:extLst>
          </p:cNvPr>
          <p:cNvGrpSpPr/>
          <p:nvPr/>
        </p:nvGrpSpPr>
        <p:grpSpPr>
          <a:xfrm>
            <a:off x="-1529875" y="2514600"/>
            <a:ext cx="1370646" cy="1370646"/>
            <a:chOff x="-2330451" y="2426177"/>
            <a:chExt cx="1370646" cy="1370646"/>
          </a:xfrm>
          <a:solidFill>
            <a:schemeClr val="bg1"/>
          </a:solidFill>
        </p:grpSpPr>
        <p:pic>
          <p:nvPicPr>
            <p:cNvPr id="58" name="Ábra 57" descr="Kör nyíllal egyszínű kitöltéssel">
              <a:extLst>
                <a:ext uri="{FF2B5EF4-FFF2-40B4-BE49-F238E27FC236}">
                  <a16:creationId xmlns:a16="http://schemas.microsoft.com/office/drawing/2014/main" id="{F7E947DB-33B6-79EF-889D-29523A280F99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59" name="Ábra 58" descr="Villanykörte és fogaskerék egyszínű kitöltéssel">
              <a:extLst>
                <a:ext uri="{FF2B5EF4-FFF2-40B4-BE49-F238E27FC236}">
                  <a16:creationId xmlns:a16="http://schemas.microsoft.com/office/drawing/2014/main" id="{B9EE0691-22E4-D304-4323-0DC3B5D181D8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60" name="Ábra 59" descr="Bemutató sávdiagrammal egyszínű kitöltéssel">
            <a:extLst>
              <a:ext uri="{FF2B5EF4-FFF2-40B4-BE49-F238E27FC236}">
                <a16:creationId xmlns:a16="http://schemas.microsoft.com/office/drawing/2014/main" id="{9759530E-1E6E-CC24-F853-6A563D51A1F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66156" y="3847920"/>
            <a:ext cx="914400" cy="914400"/>
          </a:xfrm>
          <a:prstGeom prst="rect">
            <a:avLst/>
          </a:prstGeom>
        </p:spPr>
      </p:pic>
      <p:pic>
        <p:nvPicPr>
          <p:cNvPr id="61" name="Ábra 60" descr="Adatbázis egyszínű kitöltéssel">
            <a:extLst>
              <a:ext uri="{FF2B5EF4-FFF2-40B4-BE49-F238E27FC236}">
                <a16:creationId xmlns:a16="http://schemas.microsoft.com/office/drawing/2014/main" id="{CA154EF8-CDA3-D175-72A5-5C7ECC8E68D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8069" y="4825910"/>
            <a:ext cx="914400" cy="914400"/>
          </a:xfrm>
          <a:prstGeom prst="rect">
            <a:avLst/>
          </a:prstGeom>
        </p:spPr>
      </p:pic>
      <p:pic>
        <p:nvPicPr>
          <p:cNvPr id="62" name="Ábra 61" descr="Dokumentum egyszínű kitöltéssel">
            <a:extLst>
              <a:ext uri="{FF2B5EF4-FFF2-40B4-BE49-F238E27FC236}">
                <a16:creationId xmlns:a16="http://schemas.microsoft.com/office/drawing/2014/main" id="{2C33B100-7573-AE46-89F3-70BB34D149EF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955369" y="5937550"/>
            <a:ext cx="914400" cy="914400"/>
          </a:xfrm>
          <a:prstGeom prst="rect">
            <a:avLst/>
          </a:prstGeom>
        </p:spPr>
      </p:pic>
      <p:pic>
        <p:nvPicPr>
          <p:cNvPr id="63" name="Ábra 62" descr="Villám egyszínű kitöltéssel">
            <a:extLst>
              <a:ext uri="{FF2B5EF4-FFF2-40B4-BE49-F238E27FC236}">
                <a16:creationId xmlns:a16="http://schemas.microsoft.com/office/drawing/2014/main" id="{35336CF7-2B6C-45C9-5A32-0C78C8BD8D66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027637" y="1402960"/>
            <a:ext cx="914400" cy="914400"/>
          </a:xfrm>
          <a:prstGeom prst="rect">
            <a:avLst/>
          </a:prstGeom>
        </p:spPr>
      </p:pic>
      <p:pic>
        <p:nvPicPr>
          <p:cNvPr id="56" name="Ábra 55" descr="Telitalálat egyszínű kitöltéssel">
            <a:hlinkClick r:id="rId11" action="ppaction://hlinksldjump"/>
            <a:extLst>
              <a:ext uri="{FF2B5EF4-FFF2-40B4-BE49-F238E27FC236}">
                <a16:creationId xmlns:a16="http://schemas.microsoft.com/office/drawing/2014/main" id="{3FD948D1-BE26-AD8D-EFE5-90BBFF64FD7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1338665" y="180480"/>
            <a:ext cx="914400" cy="914400"/>
          </a:xfrm>
          <a:prstGeom prst="rect">
            <a:avLst/>
          </a:prstGeom>
        </p:spPr>
      </p:pic>
      <p:sp>
        <p:nvSpPr>
          <p:cNvPr id="10" name="Szövegdoboz 9">
            <a:extLst>
              <a:ext uri="{FF2B5EF4-FFF2-40B4-BE49-F238E27FC236}">
                <a16:creationId xmlns:a16="http://schemas.microsoft.com/office/drawing/2014/main" id="{2764BF19-990C-4E66-0F99-3100802133E4}"/>
              </a:ext>
            </a:extLst>
          </p:cNvPr>
          <p:cNvSpPr txBox="1"/>
          <p:nvPr/>
        </p:nvSpPr>
        <p:spPr>
          <a:xfrm>
            <a:off x="10315153" y="5937550"/>
            <a:ext cx="1902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solidFill>
                  <a:schemeClr val="bg1"/>
                </a:solidFill>
              </a:rPr>
              <a:t>Készítette:</a:t>
            </a:r>
            <a:br>
              <a:rPr lang="hu-HU" sz="1200" dirty="0">
                <a:solidFill>
                  <a:schemeClr val="bg1"/>
                </a:solidFill>
              </a:rPr>
            </a:br>
            <a:r>
              <a:rPr lang="hu-HU" sz="1200" dirty="0">
                <a:solidFill>
                  <a:schemeClr val="bg1"/>
                </a:solidFill>
              </a:rPr>
              <a:t>Boros Dániel</a:t>
            </a:r>
          </a:p>
          <a:p>
            <a:r>
              <a:rPr lang="hu-HU" sz="1200" dirty="0" err="1">
                <a:solidFill>
                  <a:schemeClr val="bg1"/>
                </a:solidFill>
              </a:rPr>
              <a:t>Hencsey</a:t>
            </a:r>
            <a:r>
              <a:rPr lang="hu-HU" sz="1200" dirty="0">
                <a:solidFill>
                  <a:schemeClr val="bg1"/>
                </a:solidFill>
              </a:rPr>
              <a:t> Dorina</a:t>
            </a:r>
          </a:p>
          <a:p>
            <a:r>
              <a:rPr lang="hu-HU" sz="1200" dirty="0" err="1">
                <a:solidFill>
                  <a:schemeClr val="bg1"/>
                </a:solidFill>
              </a:rPr>
              <a:t>Kléber</a:t>
            </a:r>
            <a:r>
              <a:rPr lang="hu-HU" sz="1200" dirty="0">
                <a:solidFill>
                  <a:schemeClr val="bg1"/>
                </a:solidFill>
              </a:rPr>
              <a:t> Gergely László</a:t>
            </a:r>
          </a:p>
        </p:txBody>
      </p:sp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388B8BB9-8D11-84B0-6C05-1B3705D73D0C}"/>
              </a:ext>
            </a:extLst>
          </p:cNvPr>
          <p:cNvGrpSpPr/>
          <p:nvPr/>
        </p:nvGrpSpPr>
        <p:grpSpPr>
          <a:xfrm>
            <a:off x="4002102" y="485415"/>
            <a:ext cx="4518435" cy="4999956"/>
            <a:chOff x="4002102" y="485415"/>
            <a:chExt cx="4518435" cy="4999956"/>
          </a:xfrm>
        </p:grpSpPr>
        <p:pic>
          <p:nvPicPr>
            <p:cNvPr id="7" name="Kép 6">
              <a:extLst>
                <a:ext uri="{FF2B5EF4-FFF2-40B4-BE49-F238E27FC236}">
                  <a16:creationId xmlns:a16="http://schemas.microsoft.com/office/drawing/2014/main" id="{86A981CB-1123-BB40-3AC6-C5C6341C5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5" t="1196" r="1589" b="1029"/>
            <a:stretch>
              <a:fillRect/>
            </a:stretch>
          </p:blipFill>
          <p:spPr>
            <a:xfrm>
              <a:off x="4205384" y="485415"/>
              <a:ext cx="4111872" cy="4111872"/>
            </a:xfrm>
            <a:custGeom>
              <a:avLst/>
              <a:gdLst>
                <a:gd name="csX0" fmla="*/ 1379454 w 2758908"/>
                <a:gd name="csY0" fmla="*/ 0 h 2758908"/>
                <a:gd name="csX1" fmla="*/ 2758908 w 2758908"/>
                <a:gd name="csY1" fmla="*/ 1379454 h 2758908"/>
                <a:gd name="csX2" fmla="*/ 1379454 w 2758908"/>
                <a:gd name="csY2" fmla="*/ 2758908 h 2758908"/>
                <a:gd name="csX3" fmla="*/ 0 w 2758908"/>
                <a:gd name="csY3" fmla="*/ 1379454 h 2758908"/>
                <a:gd name="csX4" fmla="*/ 1379454 w 2758908"/>
                <a:gd name="csY4" fmla="*/ 0 h 2758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58908" h="2758908">
                  <a:moveTo>
                    <a:pt x="1379454" y="0"/>
                  </a:moveTo>
                  <a:cubicBezTo>
                    <a:pt x="2141305" y="0"/>
                    <a:pt x="2758908" y="617603"/>
                    <a:pt x="2758908" y="1379454"/>
                  </a:cubicBezTo>
                  <a:cubicBezTo>
                    <a:pt x="2758908" y="2141305"/>
                    <a:pt x="2141305" y="2758908"/>
                    <a:pt x="1379454" y="2758908"/>
                  </a:cubicBezTo>
                  <a:cubicBezTo>
                    <a:pt x="617603" y="2758908"/>
                    <a:pt x="0" y="2141305"/>
                    <a:pt x="0" y="1379454"/>
                  </a:cubicBezTo>
                  <a:cubicBezTo>
                    <a:pt x="0" y="617603"/>
                    <a:pt x="617603" y="0"/>
                    <a:pt x="1379454" y="0"/>
                  </a:cubicBezTo>
                  <a:close/>
                </a:path>
              </a:pathLst>
            </a:custGeom>
            <a:effectLst>
              <a:outerShdw blurRad="508000" dist="50800" dir="5400000" sx="109000" sy="109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89B65CCC-3BE4-3F1B-A4C0-07007062D9AD}"/>
                </a:ext>
              </a:extLst>
            </p:cNvPr>
            <p:cNvSpPr txBox="1"/>
            <p:nvPr/>
          </p:nvSpPr>
          <p:spPr>
            <a:xfrm>
              <a:off x="4002102" y="4469708"/>
              <a:ext cx="4518435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6000" dirty="0">
                  <a:solidFill>
                    <a:schemeClr val="bg1"/>
                  </a:solidFill>
                  <a:effectLst>
                    <a:outerShdw blurRad="927100" dist="50800" dir="5400000" sx="142000" sy="142000" algn="ctr" rotWithShape="0">
                      <a:srgbClr val="000000">
                        <a:alpha val="88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Villám Meló</a:t>
              </a:r>
            </a:p>
          </p:txBody>
        </p:sp>
      </p:grpSp>
      <p:pic>
        <p:nvPicPr>
          <p:cNvPr id="6" name="Ábra 5" descr="Telitalálat egyszínű kitöltéssel">
            <a:hlinkClick r:id="rId11" action="ppaction://hlinksldjump"/>
            <a:extLst>
              <a:ext uri="{FF2B5EF4-FFF2-40B4-BE49-F238E27FC236}">
                <a16:creationId xmlns:a16="http://schemas.microsoft.com/office/drawing/2014/main" id="{1F96BC94-66AD-92A0-7834-ED83BD828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8548" y="614865"/>
            <a:ext cx="914400" cy="914400"/>
          </a:xfrm>
          <a:prstGeom prst="rect">
            <a:avLst/>
          </a:prstGeom>
        </p:spPr>
      </p:pic>
      <p:pic>
        <p:nvPicPr>
          <p:cNvPr id="9" name="Ábra 8" descr="Villám egyszínű kitöltéssel">
            <a:hlinkClick r:id="rId15" action="ppaction://hlinksldjump"/>
            <a:extLst>
              <a:ext uri="{FF2B5EF4-FFF2-40B4-BE49-F238E27FC236}">
                <a16:creationId xmlns:a16="http://schemas.microsoft.com/office/drawing/2014/main" id="{AA57B696-D746-9B5D-821A-7EEDCC445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4349" y="1835111"/>
            <a:ext cx="914400" cy="914400"/>
          </a:xfrm>
          <a:prstGeom prst="rect">
            <a:avLst/>
          </a:prstGeom>
        </p:spPr>
      </p:pic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8B67D0F8-565C-3F9D-FC2C-8A0564D7A7C8}"/>
              </a:ext>
            </a:extLst>
          </p:cNvPr>
          <p:cNvGrpSpPr/>
          <p:nvPr/>
        </p:nvGrpSpPr>
        <p:grpSpPr>
          <a:xfrm>
            <a:off x="-100405" y="2775924"/>
            <a:ext cx="1370646" cy="1370646"/>
            <a:chOff x="-2330451" y="2426177"/>
            <a:chExt cx="1370646" cy="1370646"/>
          </a:xfrm>
          <a:solidFill>
            <a:schemeClr val="bg1">
              <a:lumMod val="65000"/>
            </a:schemeClr>
          </a:solidFill>
        </p:grpSpPr>
        <p:pic>
          <p:nvPicPr>
            <p:cNvPr id="13" name="Ábra 12" descr="Kör nyíllal egyszínű kitöltéssel">
              <a:extLst>
                <a:ext uri="{FF2B5EF4-FFF2-40B4-BE49-F238E27FC236}">
                  <a16:creationId xmlns:a16="http://schemas.microsoft.com/office/drawing/2014/main" id="{A28F9EB1-7F48-9163-E104-07EC1089BD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14" name="Ábra 13" descr="Villanykörte és fogaskerék egyszínű kitöltéssel">
              <a:hlinkClick r:id="rId18" action="ppaction://hlinksldjump"/>
              <a:extLst>
                <a:ext uri="{FF2B5EF4-FFF2-40B4-BE49-F238E27FC236}">
                  <a16:creationId xmlns:a16="http://schemas.microsoft.com/office/drawing/2014/main" id="{CA4D07AF-4E88-A91D-9FC9-81805C1CD1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15" name="Ábra 14" descr="Dokumentum egyszínű kitöltéssel">
            <a:hlinkClick r:id="rId20" action="ppaction://hlinksldjump"/>
            <a:extLst>
              <a:ext uri="{FF2B5EF4-FFF2-40B4-BE49-F238E27FC236}">
                <a16:creationId xmlns:a16="http://schemas.microsoft.com/office/drawing/2014/main" id="{9E2584AE-8364-472E-0FFF-E358A7ED3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4349" y="5507128"/>
            <a:ext cx="914400" cy="914400"/>
          </a:xfrm>
          <a:prstGeom prst="rect">
            <a:avLst/>
          </a:prstGeom>
        </p:spPr>
      </p:pic>
      <p:pic>
        <p:nvPicPr>
          <p:cNvPr id="16" name="Ábra 15" descr="Adatbázis egyszínű kitöltéssel">
            <a:hlinkClick r:id="rId22" action="ppaction://hlinksldjump"/>
            <a:extLst>
              <a:ext uri="{FF2B5EF4-FFF2-40B4-BE49-F238E27FC236}">
                <a16:creationId xmlns:a16="http://schemas.microsoft.com/office/drawing/2014/main" id="{61F13AC8-8E48-29C3-A274-0A87A27F2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7718" y="4238084"/>
            <a:ext cx="914400" cy="914400"/>
          </a:xfrm>
          <a:prstGeom prst="rect">
            <a:avLst/>
          </a:prstGeom>
        </p:spPr>
      </p:pic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EC2CE400-601F-2A0E-F602-E073882A16D7}"/>
              </a:ext>
            </a:extLst>
          </p:cNvPr>
          <p:cNvGrpSpPr/>
          <p:nvPr/>
        </p:nvGrpSpPr>
        <p:grpSpPr>
          <a:xfrm>
            <a:off x="2641667" y="-6171556"/>
            <a:ext cx="7785100" cy="779721"/>
            <a:chOff x="2497376" y="326477"/>
            <a:chExt cx="7785100" cy="779721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FD1DC42E-F3B5-49AC-AA42-B61B13E334D4}"/>
                </a:ext>
              </a:extLst>
            </p:cNvPr>
            <p:cNvSpPr/>
            <p:nvPr/>
          </p:nvSpPr>
          <p:spPr>
            <a:xfrm>
              <a:off x="2497376" y="326477"/>
              <a:ext cx="7785100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Szövegdoboz 7">
              <a:extLst>
                <a:ext uri="{FF2B5EF4-FFF2-40B4-BE49-F238E27FC236}">
                  <a16:creationId xmlns:a16="http://schemas.microsoft.com/office/drawing/2014/main" id="{7C08CFAA-1654-8A64-8926-9430C4B3AC65}"/>
                </a:ext>
              </a:extLst>
            </p:cNvPr>
            <p:cNvSpPr txBox="1"/>
            <p:nvPr/>
          </p:nvSpPr>
          <p:spPr>
            <a:xfrm>
              <a:off x="2900830" y="342900"/>
              <a:ext cx="697819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Témaválasztás és célkitűzés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05817137-DE00-8966-5A65-6364455ED9FF}"/>
              </a:ext>
            </a:extLst>
          </p:cNvPr>
          <p:cNvGrpSpPr/>
          <p:nvPr/>
        </p:nvGrpSpPr>
        <p:grpSpPr>
          <a:xfrm>
            <a:off x="1635761" y="-5025852"/>
            <a:ext cx="4998720" cy="2597612"/>
            <a:chOff x="1243080" y="984134"/>
            <a:chExt cx="4998720" cy="2110691"/>
          </a:xfrm>
        </p:grpSpPr>
        <p:sp>
          <p:nvSpPr>
            <p:cNvPr id="21" name="Téglalap: szamárfül 20">
              <a:extLst>
                <a:ext uri="{FF2B5EF4-FFF2-40B4-BE49-F238E27FC236}">
                  <a16:creationId xmlns:a16="http://schemas.microsoft.com/office/drawing/2014/main" id="{01A23CC9-CB43-B9FF-E360-332C3463162A}"/>
                </a:ext>
              </a:extLst>
            </p:cNvPr>
            <p:cNvSpPr/>
            <p:nvPr/>
          </p:nvSpPr>
          <p:spPr>
            <a:xfrm>
              <a:off x="1243080" y="984134"/>
              <a:ext cx="4998720" cy="2110691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4E462948-2BEF-2878-E88E-BD95582DCD05}"/>
                </a:ext>
              </a:extLst>
            </p:cNvPr>
            <p:cNvSpPr txBox="1"/>
            <p:nvPr/>
          </p:nvSpPr>
          <p:spPr>
            <a:xfrm>
              <a:off x="1473021" y="1216226"/>
              <a:ext cx="4622799" cy="1454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Igények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2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Rugalmas munkavégzés</a:t>
              </a:r>
            </a:p>
            <a:p>
              <a:pPr marL="742950" lvl="1" indent="-285750">
                <a:spcAft>
                  <a:spcPts val="2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Képesítést nem igénylő feladatok</a:t>
              </a:r>
            </a:p>
            <a:p>
              <a:pPr marL="742950" lvl="1" indent="-285750">
                <a:spcAft>
                  <a:spcPts val="3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Gyors jövedelemszerzés</a:t>
              </a:r>
            </a:p>
          </p:txBody>
        </p:sp>
      </p:grp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17D4A914-9DBE-982E-3E06-F82B12BBA16B}"/>
              </a:ext>
            </a:extLst>
          </p:cNvPr>
          <p:cNvGrpSpPr/>
          <p:nvPr/>
        </p:nvGrpSpPr>
        <p:grpSpPr>
          <a:xfrm>
            <a:off x="6805796" y="-5022605"/>
            <a:ext cx="4998720" cy="4354084"/>
            <a:chOff x="6312310" y="-5082974"/>
            <a:chExt cx="4998720" cy="4354084"/>
          </a:xfrm>
        </p:grpSpPr>
        <p:sp>
          <p:nvSpPr>
            <p:cNvPr id="27" name="Téglalap: szamárfül 26">
              <a:extLst>
                <a:ext uri="{FF2B5EF4-FFF2-40B4-BE49-F238E27FC236}">
                  <a16:creationId xmlns:a16="http://schemas.microsoft.com/office/drawing/2014/main" id="{729123F8-19EB-B5EF-09AF-129428637669}"/>
                </a:ext>
              </a:extLst>
            </p:cNvPr>
            <p:cNvSpPr/>
            <p:nvPr/>
          </p:nvSpPr>
          <p:spPr>
            <a:xfrm>
              <a:off x="6312310" y="-5082974"/>
              <a:ext cx="4998720" cy="4354084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8" name="Szövegdoboz 27">
              <a:extLst>
                <a:ext uri="{FF2B5EF4-FFF2-40B4-BE49-F238E27FC236}">
                  <a16:creationId xmlns:a16="http://schemas.microsoft.com/office/drawing/2014/main" id="{99F06BD9-2446-6BE1-ACAB-DF19F83E9143}"/>
                </a:ext>
              </a:extLst>
            </p:cNvPr>
            <p:cNvSpPr txBox="1"/>
            <p:nvPr/>
          </p:nvSpPr>
          <p:spPr>
            <a:xfrm>
              <a:off x="6445366" y="-4840514"/>
              <a:ext cx="4622799" cy="3585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Célok: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munkaportál.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bizalomépítés érdekében értékelési 	rendszert és valós idejű statisztikákat integrálni.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Fiók szerkesztési lehetőség, hogy 	egyedivé tudják tenni a profiljukat.</a:t>
              </a:r>
            </a:p>
            <a:p>
              <a:pPr marL="742950" lvl="1" indent="-285750"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Egyéb kérdés vagy visszajelzés 	lehetőség megadása.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986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FA8F-D703-C1C1-1AFD-C3528559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églalap 29">
            <a:extLst>
              <a:ext uri="{FF2B5EF4-FFF2-40B4-BE49-F238E27FC236}">
                <a16:creationId xmlns:a16="http://schemas.microsoft.com/office/drawing/2014/main" id="{31777579-F6A8-5168-94D5-C167184A45AE}"/>
              </a:ext>
            </a:extLst>
          </p:cNvPr>
          <p:cNvSpPr/>
          <p:nvPr/>
        </p:nvSpPr>
        <p:spPr>
          <a:xfrm>
            <a:off x="0" y="0"/>
            <a:ext cx="12191640" cy="6858000"/>
          </a:xfrm>
          <a:prstGeom prst="rect">
            <a:avLst/>
          </a:prstGeom>
          <a:gradFill>
            <a:gsLst>
              <a:gs pos="74000">
                <a:srgbClr val="9140BE"/>
              </a:gs>
              <a:gs pos="87000">
                <a:srgbClr val="743498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Szabadkézi sokszög: alakzat 21">
            <a:extLst>
              <a:ext uri="{FF2B5EF4-FFF2-40B4-BE49-F238E27FC236}">
                <a16:creationId xmlns:a16="http://schemas.microsoft.com/office/drawing/2014/main" id="{7AD17CB7-D77F-4F29-541E-ED3B95CB552D}"/>
              </a:ext>
            </a:extLst>
          </p:cNvPr>
          <p:cNvSpPr/>
          <p:nvPr/>
        </p:nvSpPr>
        <p:spPr>
          <a:xfrm>
            <a:off x="-40969" y="-9554320"/>
            <a:ext cx="1236896" cy="21165363"/>
          </a:xfrm>
          <a:custGeom>
            <a:avLst/>
            <a:gdLst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7" fmla="*/ 1230945 w 1230945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83691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31487"/>
              <a:gd name="csY0" fmla="*/ 0 h 21165363"/>
              <a:gd name="csX1" fmla="*/ 1230945 w 1231487"/>
              <a:gd name="csY1" fmla="*/ 9483691 h 21165363"/>
              <a:gd name="csX2" fmla="*/ 579101 w 1231487"/>
              <a:gd name="csY2" fmla="*/ 10629579 h 21165363"/>
              <a:gd name="csX3" fmla="*/ 1230945 w 1231487"/>
              <a:gd name="csY3" fmla="*/ 11741211 h 21165363"/>
              <a:gd name="csX4" fmla="*/ 1230945 w 1231487"/>
              <a:gd name="csY4" fmla="*/ 21165363 h 21165363"/>
              <a:gd name="csX5" fmla="*/ 0 w 1231487"/>
              <a:gd name="csY5" fmla="*/ 21165363 h 21165363"/>
              <a:gd name="csX6" fmla="*/ 0 w 1231487"/>
              <a:gd name="csY6" fmla="*/ 0 h 21165363"/>
              <a:gd name="csX7" fmla="*/ 1230945 w 1231487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6896" h="21165363">
                <a:moveTo>
                  <a:pt x="1230945" y="0"/>
                </a:moveTo>
                <a:cubicBezTo>
                  <a:pt x="1230945" y="3158848"/>
                  <a:pt x="1244335" y="8705073"/>
                  <a:pt x="1230945" y="9483691"/>
                </a:cubicBezTo>
                <a:cubicBezTo>
                  <a:pt x="1217555" y="10262309"/>
                  <a:pt x="579101" y="10253326"/>
                  <a:pt x="579101" y="10629579"/>
                </a:cubicBezTo>
                <a:cubicBezTo>
                  <a:pt x="579101" y="11005832"/>
                  <a:pt x="1234223" y="10971091"/>
                  <a:pt x="1230945" y="11741211"/>
                </a:cubicBezTo>
                <a:cubicBezTo>
                  <a:pt x="1227667" y="12511331"/>
                  <a:pt x="1230945" y="18023979"/>
                  <a:pt x="1230945" y="21165363"/>
                </a:cubicBezTo>
                <a:lnTo>
                  <a:pt x="0" y="21165363"/>
                </a:lnTo>
                <a:lnTo>
                  <a:pt x="0" y="0"/>
                </a:lnTo>
                <a:lnTo>
                  <a:pt x="1230945" y="0"/>
                </a:lnTo>
                <a:close/>
              </a:path>
            </a:pathLst>
          </a:custGeom>
          <a:solidFill>
            <a:srgbClr val="7B3D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 dirty="0"/>
          </a:p>
        </p:txBody>
      </p:sp>
      <p:grpSp>
        <p:nvGrpSpPr>
          <p:cNvPr id="44" name="Csoportba foglalás 43">
            <a:extLst>
              <a:ext uri="{FF2B5EF4-FFF2-40B4-BE49-F238E27FC236}">
                <a16:creationId xmlns:a16="http://schemas.microsoft.com/office/drawing/2014/main" id="{6FAA84B2-4C56-8828-F84F-12F16B4E3131}"/>
              </a:ext>
            </a:extLst>
          </p:cNvPr>
          <p:cNvGrpSpPr/>
          <p:nvPr/>
        </p:nvGrpSpPr>
        <p:grpSpPr>
          <a:xfrm>
            <a:off x="2641667" y="391804"/>
            <a:ext cx="7785100" cy="779721"/>
            <a:chOff x="2497376" y="326477"/>
            <a:chExt cx="7785100" cy="779721"/>
          </a:xfrm>
        </p:grpSpPr>
        <p:sp>
          <p:nvSpPr>
            <p:cNvPr id="42" name="Téglalap: lekerekített 41">
              <a:extLst>
                <a:ext uri="{FF2B5EF4-FFF2-40B4-BE49-F238E27FC236}">
                  <a16:creationId xmlns:a16="http://schemas.microsoft.com/office/drawing/2014/main" id="{5C3734EF-9858-2F0D-D1C5-9C087C23936F}"/>
                </a:ext>
              </a:extLst>
            </p:cNvPr>
            <p:cNvSpPr/>
            <p:nvPr/>
          </p:nvSpPr>
          <p:spPr>
            <a:xfrm>
              <a:off x="2497376" y="326477"/>
              <a:ext cx="7785100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0" name="Szövegdoboz 79">
              <a:extLst>
                <a:ext uri="{FF2B5EF4-FFF2-40B4-BE49-F238E27FC236}">
                  <a16:creationId xmlns:a16="http://schemas.microsoft.com/office/drawing/2014/main" id="{7ABFB3B9-00E5-F428-D507-0DFFBF381D22}"/>
                </a:ext>
              </a:extLst>
            </p:cNvPr>
            <p:cNvSpPr txBox="1"/>
            <p:nvPr/>
          </p:nvSpPr>
          <p:spPr>
            <a:xfrm>
              <a:off x="2900830" y="342900"/>
              <a:ext cx="697819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Témaválasztás és célkitűzés</a:t>
              </a:r>
            </a:p>
          </p:txBody>
        </p:sp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6009FCFA-2F24-A03D-363F-1A0C6FDD3E76}"/>
              </a:ext>
            </a:extLst>
          </p:cNvPr>
          <p:cNvGrpSpPr/>
          <p:nvPr/>
        </p:nvGrpSpPr>
        <p:grpSpPr>
          <a:xfrm>
            <a:off x="-1529875" y="2514600"/>
            <a:ext cx="1370646" cy="1370646"/>
            <a:chOff x="-2330451" y="2426177"/>
            <a:chExt cx="1370646" cy="1370646"/>
          </a:xfrm>
          <a:solidFill>
            <a:schemeClr val="bg1"/>
          </a:solidFill>
        </p:grpSpPr>
        <p:pic>
          <p:nvPicPr>
            <p:cNvPr id="48" name="Ábra 47" descr="Kör nyíllal egyszínű kitöltéssel">
              <a:extLst>
                <a:ext uri="{FF2B5EF4-FFF2-40B4-BE49-F238E27FC236}">
                  <a16:creationId xmlns:a16="http://schemas.microsoft.com/office/drawing/2014/main" id="{9C3CAEDD-6AC6-476D-02C6-3AEFD409600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49" name="Ábra 48" descr="Villanykörte és fogaskerék egyszínű kitöltéssel">
              <a:extLst>
                <a:ext uri="{FF2B5EF4-FFF2-40B4-BE49-F238E27FC236}">
                  <a16:creationId xmlns:a16="http://schemas.microsoft.com/office/drawing/2014/main" id="{1B9C6BA9-347E-C869-15CB-DBA5EEDD142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50" name="Ábra 49" descr="Bemutató sávdiagrammal egyszínű kitöltéssel">
            <a:extLst>
              <a:ext uri="{FF2B5EF4-FFF2-40B4-BE49-F238E27FC236}">
                <a16:creationId xmlns:a16="http://schemas.microsoft.com/office/drawing/2014/main" id="{4361B5DB-DEE0-8FCE-B9E3-8831DA91BAC1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66156" y="3847920"/>
            <a:ext cx="914400" cy="914400"/>
          </a:xfrm>
          <a:prstGeom prst="rect">
            <a:avLst/>
          </a:prstGeom>
        </p:spPr>
      </p:pic>
      <p:pic>
        <p:nvPicPr>
          <p:cNvPr id="51" name="Ábra 50" descr="Adatbázis egyszínű kitöltéssel">
            <a:extLst>
              <a:ext uri="{FF2B5EF4-FFF2-40B4-BE49-F238E27FC236}">
                <a16:creationId xmlns:a16="http://schemas.microsoft.com/office/drawing/2014/main" id="{E5428C53-62C4-2C17-2E14-25EC5C99B0C3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968069" y="4825910"/>
            <a:ext cx="914400" cy="914400"/>
          </a:xfrm>
          <a:prstGeom prst="rect">
            <a:avLst/>
          </a:prstGeom>
        </p:spPr>
      </p:pic>
      <p:pic>
        <p:nvPicPr>
          <p:cNvPr id="52" name="Ábra 51" descr="Dokumentum egyszínű kitöltéssel">
            <a:extLst>
              <a:ext uri="{FF2B5EF4-FFF2-40B4-BE49-F238E27FC236}">
                <a16:creationId xmlns:a16="http://schemas.microsoft.com/office/drawing/2014/main" id="{7ECB13CE-FE71-89FD-25D6-F42DE20BA514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55369" y="5937550"/>
            <a:ext cx="914400" cy="914400"/>
          </a:xfrm>
          <a:prstGeom prst="rect">
            <a:avLst/>
          </a:prstGeom>
        </p:spPr>
      </p:pic>
      <p:pic>
        <p:nvPicPr>
          <p:cNvPr id="53" name="Ábra 52" descr="Villám egyszínű kitöltéssel">
            <a:extLst>
              <a:ext uri="{FF2B5EF4-FFF2-40B4-BE49-F238E27FC236}">
                <a16:creationId xmlns:a16="http://schemas.microsoft.com/office/drawing/2014/main" id="{EC357377-17D8-4D55-C2FA-CCA494CF47BB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027637" y="1402960"/>
            <a:ext cx="914400" cy="914400"/>
          </a:xfrm>
          <a:prstGeom prst="rect">
            <a:avLst/>
          </a:prstGeom>
        </p:spPr>
      </p:pic>
      <p:grpSp>
        <p:nvGrpSpPr>
          <p:cNvPr id="45" name="Csoportba foglalás 44">
            <a:extLst>
              <a:ext uri="{FF2B5EF4-FFF2-40B4-BE49-F238E27FC236}">
                <a16:creationId xmlns:a16="http://schemas.microsoft.com/office/drawing/2014/main" id="{02CD1092-6537-2543-350B-DE3A73259107}"/>
              </a:ext>
            </a:extLst>
          </p:cNvPr>
          <p:cNvGrpSpPr/>
          <p:nvPr/>
        </p:nvGrpSpPr>
        <p:grpSpPr>
          <a:xfrm>
            <a:off x="6805796" y="1545367"/>
            <a:ext cx="4998720" cy="4354084"/>
            <a:chOff x="6312310" y="-5082974"/>
            <a:chExt cx="4998720" cy="4354084"/>
          </a:xfrm>
        </p:grpSpPr>
        <p:sp>
          <p:nvSpPr>
            <p:cNvPr id="46" name="Téglalap: szamárfül 45">
              <a:extLst>
                <a:ext uri="{FF2B5EF4-FFF2-40B4-BE49-F238E27FC236}">
                  <a16:creationId xmlns:a16="http://schemas.microsoft.com/office/drawing/2014/main" id="{D9830CF5-F057-C328-2A5E-B9D62C0BAEB3}"/>
                </a:ext>
              </a:extLst>
            </p:cNvPr>
            <p:cNvSpPr/>
            <p:nvPr/>
          </p:nvSpPr>
          <p:spPr>
            <a:xfrm>
              <a:off x="6312310" y="-5082974"/>
              <a:ext cx="4998720" cy="4354084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401BBC79-543E-2166-2720-C94037D3B484}"/>
                </a:ext>
              </a:extLst>
            </p:cNvPr>
            <p:cNvSpPr txBox="1"/>
            <p:nvPr/>
          </p:nvSpPr>
          <p:spPr>
            <a:xfrm>
              <a:off x="6445366" y="-4840514"/>
              <a:ext cx="4622799" cy="3585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Célok: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munkaportál.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bizalomépítés érdekében értékelési 	rendszert és valós idejű statisztikákat integrálni.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Fiók szerkesztési lehetőség, hogy 	egyedivé tudják tenni a profiljukat.</a:t>
              </a:r>
            </a:p>
            <a:p>
              <a:pPr marL="742950" lvl="1" indent="-285750"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Egyéb kérdés vagy visszajelzés 	lehetőség megadása.</a:t>
              </a:r>
            </a:p>
          </p:txBody>
        </p:sp>
      </p:grpSp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68DCC328-A1FD-D6E1-B6C0-EA9C4A4519E6}"/>
              </a:ext>
            </a:extLst>
          </p:cNvPr>
          <p:cNvGrpSpPr/>
          <p:nvPr/>
        </p:nvGrpSpPr>
        <p:grpSpPr>
          <a:xfrm>
            <a:off x="1635761" y="1537508"/>
            <a:ext cx="4998720" cy="2597612"/>
            <a:chOff x="1243080" y="984134"/>
            <a:chExt cx="4998720" cy="2110691"/>
          </a:xfrm>
        </p:grpSpPr>
        <p:sp>
          <p:nvSpPr>
            <p:cNvPr id="56" name="Téglalap: szamárfül 55">
              <a:extLst>
                <a:ext uri="{FF2B5EF4-FFF2-40B4-BE49-F238E27FC236}">
                  <a16:creationId xmlns:a16="http://schemas.microsoft.com/office/drawing/2014/main" id="{C0A999E7-04ED-44F5-EDD2-3C474D11D2F5}"/>
                </a:ext>
              </a:extLst>
            </p:cNvPr>
            <p:cNvSpPr/>
            <p:nvPr/>
          </p:nvSpPr>
          <p:spPr>
            <a:xfrm>
              <a:off x="1243080" y="984134"/>
              <a:ext cx="4998720" cy="2110691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Szövegdoboz 56">
              <a:extLst>
                <a:ext uri="{FF2B5EF4-FFF2-40B4-BE49-F238E27FC236}">
                  <a16:creationId xmlns:a16="http://schemas.microsoft.com/office/drawing/2014/main" id="{49D08270-959A-E36C-B64E-AE0D3F54FCB6}"/>
                </a:ext>
              </a:extLst>
            </p:cNvPr>
            <p:cNvSpPr txBox="1"/>
            <p:nvPr/>
          </p:nvSpPr>
          <p:spPr>
            <a:xfrm>
              <a:off x="1473021" y="1216226"/>
              <a:ext cx="4622799" cy="1454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Igények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2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Rugalmas munkavégzés</a:t>
              </a:r>
            </a:p>
            <a:p>
              <a:pPr marL="742950" lvl="1" indent="-285750">
                <a:spcAft>
                  <a:spcPts val="2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Képesítést nem igénylő feladatok</a:t>
              </a:r>
            </a:p>
            <a:p>
              <a:pPr marL="742950" lvl="1" indent="-285750">
                <a:spcAft>
                  <a:spcPts val="3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Gyors jövedelemszerzés</a:t>
              </a:r>
            </a:p>
          </p:txBody>
        </p:sp>
      </p:grpSp>
      <p:grpSp>
        <p:nvGrpSpPr>
          <p:cNvPr id="24" name="Csoportba foglalás 23">
            <a:extLst>
              <a:ext uri="{FF2B5EF4-FFF2-40B4-BE49-F238E27FC236}">
                <a16:creationId xmlns:a16="http://schemas.microsoft.com/office/drawing/2014/main" id="{6B8DF634-7B9B-A152-E5BA-E139D69F167A}"/>
              </a:ext>
            </a:extLst>
          </p:cNvPr>
          <p:cNvGrpSpPr/>
          <p:nvPr/>
        </p:nvGrpSpPr>
        <p:grpSpPr>
          <a:xfrm>
            <a:off x="4002102" y="8689615"/>
            <a:ext cx="4518435" cy="4999956"/>
            <a:chOff x="4002102" y="485415"/>
            <a:chExt cx="4518435" cy="4999956"/>
          </a:xfrm>
        </p:grpSpPr>
        <p:pic>
          <p:nvPicPr>
            <p:cNvPr id="25" name="Kép 24">
              <a:extLst>
                <a:ext uri="{FF2B5EF4-FFF2-40B4-BE49-F238E27FC236}">
                  <a16:creationId xmlns:a16="http://schemas.microsoft.com/office/drawing/2014/main" id="{CE2C9FED-1F7E-5C0E-C557-600880C9C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5" t="1196" r="1589" b="1029"/>
            <a:stretch>
              <a:fillRect/>
            </a:stretch>
          </p:blipFill>
          <p:spPr>
            <a:xfrm>
              <a:off x="4205384" y="485415"/>
              <a:ext cx="4111872" cy="4111872"/>
            </a:xfrm>
            <a:custGeom>
              <a:avLst/>
              <a:gdLst>
                <a:gd name="csX0" fmla="*/ 1379454 w 2758908"/>
                <a:gd name="csY0" fmla="*/ 0 h 2758908"/>
                <a:gd name="csX1" fmla="*/ 2758908 w 2758908"/>
                <a:gd name="csY1" fmla="*/ 1379454 h 2758908"/>
                <a:gd name="csX2" fmla="*/ 1379454 w 2758908"/>
                <a:gd name="csY2" fmla="*/ 2758908 h 2758908"/>
                <a:gd name="csX3" fmla="*/ 0 w 2758908"/>
                <a:gd name="csY3" fmla="*/ 1379454 h 2758908"/>
                <a:gd name="csX4" fmla="*/ 1379454 w 2758908"/>
                <a:gd name="csY4" fmla="*/ 0 h 27589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58908" h="2758908">
                  <a:moveTo>
                    <a:pt x="1379454" y="0"/>
                  </a:moveTo>
                  <a:cubicBezTo>
                    <a:pt x="2141305" y="0"/>
                    <a:pt x="2758908" y="617603"/>
                    <a:pt x="2758908" y="1379454"/>
                  </a:cubicBezTo>
                  <a:cubicBezTo>
                    <a:pt x="2758908" y="2141305"/>
                    <a:pt x="2141305" y="2758908"/>
                    <a:pt x="1379454" y="2758908"/>
                  </a:cubicBezTo>
                  <a:cubicBezTo>
                    <a:pt x="617603" y="2758908"/>
                    <a:pt x="0" y="2141305"/>
                    <a:pt x="0" y="1379454"/>
                  </a:cubicBezTo>
                  <a:cubicBezTo>
                    <a:pt x="0" y="617603"/>
                    <a:pt x="617603" y="0"/>
                    <a:pt x="1379454" y="0"/>
                  </a:cubicBezTo>
                  <a:close/>
                </a:path>
              </a:pathLst>
            </a:custGeom>
            <a:effectLst>
              <a:outerShdw blurRad="508000" dist="50800" dir="5400000" sx="109000" sy="109000" algn="ctr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26" name="Szövegdoboz 25">
              <a:extLst>
                <a:ext uri="{FF2B5EF4-FFF2-40B4-BE49-F238E27FC236}">
                  <a16:creationId xmlns:a16="http://schemas.microsoft.com/office/drawing/2014/main" id="{7B8161FA-88E3-723C-5876-6E25CE594766}"/>
                </a:ext>
              </a:extLst>
            </p:cNvPr>
            <p:cNvSpPr txBox="1"/>
            <p:nvPr/>
          </p:nvSpPr>
          <p:spPr>
            <a:xfrm>
              <a:off x="4002102" y="4469708"/>
              <a:ext cx="4518435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hu-HU" sz="6000" dirty="0">
                  <a:solidFill>
                    <a:schemeClr val="bg1"/>
                  </a:solidFill>
                  <a:effectLst>
                    <a:outerShdw blurRad="927100" dist="50800" dir="5400000" sx="142000" sy="142000" algn="ctr" rotWithShape="0">
                      <a:srgbClr val="000000">
                        <a:alpha val="88000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Villám Meló</a:t>
              </a:r>
            </a:p>
          </p:txBody>
        </p:sp>
      </p:grp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0B7FE129-A7E6-2B35-1972-9E459DFCDD1E}"/>
              </a:ext>
            </a:extLst>
          </p:cNvPr>
          <p:cNvSpPr txBox="1"/>
          <p:nvPr/>
        </p:nvSpPr>
        <p:spPr>
          <a:xfrm>
            <a:off x="10315153" y="7918750"/>
            <a:ext cx="1902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solidFill>
                  <a:schemeClr val="bg1"/>
                </a:solidFill>
              </a:rPr>
              <a:t>Készítette:</a:t>
            </a:r>
            <a:br>
              <a:rPr lang="hu-HU" sz="1200" dirty="0">
                <a:solidFill>
                  <a:schemeClr val="bg1"/>
                </a:solidFill>
              </a:rPr>
            </a:br>
            <a:r>
              <a:rPr lang="hu-HU" sz="1200" dirty="0">
                <a:solidFill>
                  <a:schemeClr val="bg1"/>
                </a:solidFill>
              </a:rPr>
              <a:t>Boros Dániel</a:t>
            </a:r>
          </a:p>
          <a:p>
            <a:r>
              <a:rPr lang="hu-HU" sz="1200" dirty="0" err="1">
                <a:solidFill>
                  <a:schemeClr val="bg1"/>
                </a:solidFill>
              </a:rPr>
              <a:t>Hencsey</a:t>
            </a:r>
            <a:r>
              <a:rPr lang="hu-HU" sz="1200" dirty="0">
                <a:solidFill>
                  <a:schemeClr val="bg1"/>
                </a:solidFill>
              </a:rPr>
              <a:t> Dorina</a:t>
            </a:r>
          </a:p>
          <a:p>
            <a:r>
              <a:rPr lang="hu-HU" sz="1200" dirty="0" err="1">
                <a:solidFill>
                  <a:schemeClr val="bg1"/>
                </a:solidFill>
              </a:rPr>
              <a:t>Kléber</a:t>
            </a:r>
            <a:r>
              <a:rPr lang="hu-HU" sz="1200" dirty="0">
                <a:solidFill>
                  <a:schemeClr val="bg1"/>
                </a:solidFill>
              </a:rPr>
              <a:t> Gergely László</a:t>
            </a:r>
          </a:p>
        </p:txBody>
      </p:sp>
      <p:pic>
        <p:nvPicPr>
          <p:cNvPr id="15" name="Ábra 14" descr="Telitalálat egyszínű kitöltéssel">
            <a:hlinkClick r:id="rId10" action="ppaction://hlinksldjump"/>
            <a:extLst>
              <a:ext uri="{FF2B5EF4-FFF2-40B4-BE49-F238E27FC236}">
                <a16:creationId xmlns:a16="http://schemas.microsoft.com/office/drawing/2014/main" id="{B51F2577-9D20-8F4E-A6B3-84008A16C14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3674" y="615945"/>
            <a:ext cx="914400" cy="914400"/>
          </a:xfrm>
          <a:prstGeom prst="rect">
            <a:avLst/>
          </a:prstGeom>
        </p:spPr>
      </p:pic>
      <p:pic>
        <p:nvPicPr>
          <p:cNvPr id="35" name="Ábra 34" descr="Villám egyszínű kitöltéssel">
            <a:hlinkClick r:id="rId12" action="ppaction://hlinksldjump"/>
            <a:extLst>
              <a:ext uri="{FF2B5EF4-FFF2-40B4-BE49-F238E27FC236}">
                <a16:creationId xmlns:a16="http://schemas.microsoft.com/office/drawing/2014/main" id="{4056C11D-2301-CFB0-0EC5-30F3ED490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4349" y="1835111"/>
            <a:ext cx="914400" cy="914400"/>
          </a:xfrm>
          <a:prstGeom prst="rect">
            <a:avLst/>
          </a:prstGeom>
        </p:spPr>
      </p:pic>
      <p:grpSp>
        <p:nvGrpSpPr>
          <p:cNvPr id="36" name="Csoportba foglalás 35">
            <a:extLst>
              <a:ext uri="{FF2B5EF4-FFF2-40B4-BE49-F238E27FC236}">
                <a16:creationId xmlns:a16="http://schemas.microsoft.com/office/drawing/2014/main" id="{9D95DD82-FB48-05B7-1B44-DC1FC3A7DD14}"/>
              </a:ext>
            </a:extLst>
          </p:cNvPr>
          <p:cNvGrpSpPr/>
          <p:nvPr/>
        </p:nvGrpSpPr>
        <p:grpSpPr>
          <a:xfrm>
            <a:off x="-100405" y="2775924"/>
            <a:ext cx="1370646" cy="1370646"/>
            <a:chOff x="-2330451" y="2426177"/>
            <a:chExt cx="1370646" cy="1370646"/>
          </a:xfrm>
          <a:solidFill>
            <a:schemeClr val="bg1">
              <a:lumMod val="65000"/>
            </a:schemeClr>
          </a:solidFill>
        </p:grpSpPr>
        <p:pic>
          <p:nvPicPr>
            <p:cNvPr id="37" name="Ábra 36" descr="Kör nyíllal egyszínű kitöltéssel">
              <a:extLst>
                <a:ext uri="{FF2B5EF4-FFF2-40B4-BE49-F238E27FC236}">
                  <a16:creationId xmlns:a16="http://schemas.microsoft.com/office/drawing/2014/main" id="{41683F61-13B6-11CC-E1E5-684987B1AA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38" name="Ábra 37" descr="Villanykörte és fogaskerék egyszínű kitöltéssel">
              <a:hlinkClick r:id="rId15" action="ppaction://hlinksldjump"/>
              <a:extLst>
                <a:ext uri="{FF2B5EF4-FFF2-40B4-BE49-F238E27FC236}">
                  <a16:creationId xmlns:a16="http://schemas.microsoft.com/office/drawing/2014/main" id="{A4052807-F105-CD9C-19B5-810078D18F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39" name="Ábra 38" descr="Dokumentum egyszínű kitöltéssel">
            <a:hlinkClick r:id="rId17" action="ppaction://hlinksldjump"/>
            <a:extLst>
              <a:ext uri="{FF2B5EF4-FFF2-40B4-BE49-F238E27FC236}">
                <a16:creationId xmlns:a16="http://schemas.microsoft.com/office/drawing/2014/main" id="{2610C9D1-B473-8FE7-F1A5-2060C548D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4349" y="5507128"/>
            <a:ext cx="914400" cy="914400"/>
          </a:xfrm>
          <a:prstGeom prst="rect">
            <a:avLst/>
          </a:prstGeom>
        </p:spPr>
      </p:pic>
      <p:pic>
        <p:nvPicPr>
          <p:cNvPr id="40" name="Ábra 39" descr="Adatbázis egyszínű kitöltéssel">
            <a:hlinkClick r:id="rId19" action="ppaction://hlinksldjump"/>
            <a:extLst>
              <a:ext uri="{FF2B5EF4-FFF2-40B4-BE49-F238E27FC236}">
                <a16:creationId xmlns:a16="http://schemas.microsoft.com/office/drawing/2014/main" id="{F24EA2D7-D4EA-0B43-EF94-4D4E4658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7718" y="4238084"/>
            <a:ext cx="914400" cy="914400"/>
          </a:xfrm>
          <a:prstGeom prst="rect">
            <a:avLst/>
          </a:prstGeom>
        </p:spPr>
      </p:pic>
      <p:grpSp>
        <p:nvGrpSpPr>
          <p:cNvPr id="72" name="Csoportba foglalás 71">
            <a:extLst>
              <a:ext uri="{FF2B5EF4-FFF2-40B4-BE49-F238E27FC236}">
                <a16:creationId xmlns:a16="http://schemas.microsoft.com/office/drawing/2014/main" id="{B8BD89A0-B2E5-BC56-5115-53B010D13196}"/>
              </a:ext>
            </a:extLst>
          </p:cNvPr>
          <p:cNvGrpSpPr/>
          <p:nvPr/>
        </p:nvGrpSpPr>
        <p:grpSpPr>
          <a:xfrm>
            <a:off x="6805796" y="-5348150"/>
            <a:ext cx="5028818" cy="4906832"/>
            <a:chOff x="3455862" y="719799"/>
            <a:chExt cx="7285776" cy="6976664"/>
          </a:xfrm>
        </p:grpSpPr>
        <p:sp>
          <p:nvSpPr>
            <p:cNvPr id="73" name="Téglalap: szamárfül 72">
              <a:extLst>
                <a:ext uri="{FF2B5EF4-FFF2-40B4-BE49-F238E27FC236}">
                  <a16:creationId xmlns:a16="http://schemas.microsoft.com/office/drawing/2014/main" id="{7FC2809C-04C3-4D2E-9AB5-83A52DEC837F}"/>
                </a:ext>
              </a:extLst>
            </p:cNvPr>
            <p:cNvSpPr/>
            <p:nvPr/>
          </p:nvSpPr>
          <p:spPr>
            <a:xfrm>
              <a:off x="3455862" y="719799"/>
              <a:ext cx="7285776" cy="6976664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74" name="Szövegdoboz 73">
              <a:extLst>
                <a:ext uri="{FF2B5EF4-FFF2-40B4-BE49-F238E27FC236}">
                  <a16:creationId xmlns:a16="http://schemas.microsoft.com/office/drawing/2014/main" id="{5A5D7B76-83EC-9F9A-2E1E-AE6CF74F77AD}"/>
                </a:ext>
              </a:extLst>
            </p:cNvPr>
            <p:cNvSpPr txBox="1"/>
            <p:nvPr/>
          </p:nvSpPr>
          <p:spPr>
            <a:xfrm>
              <a:off x="3763396" y="1061475"/>
              <a:ext cx="6356328" cy="6250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Regisztráció és bejelentkezés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40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Oldalhoz való csatlakozást és belépést lehetővé tettük.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Fiók szerkesztés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40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Általános adatokat és profilképet változtathatnak a felhasználók.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Hibajelentés és segítségkérés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  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Bejelenteni kívánt hibákat vagy problémákat jelezhetik a csapatnak.</a:t>
              </a:r>
            </a:p>
          </p:txBody>
        </p:sp>
      </p:grpSp>
      <p:grpSp>
        <p:nvGrpSpPr>
          <p:cNvPr id="75" name="Csoportba foglalás 74">
            <a:extLst>
              <a:ext uri="{FF2B5EF4-FFF2-40B4-BE49-F238E27FC236}">
                <a16:creationId xmlns:a16="http://schemas.microsoft.com/office/drawing/2014/main" id="{7BB5CE46-0966-B734-8513-B12A8C9393DC}"/>
              </a:ext>
            </a:extLst>
          </p:cNvPr>
          <p:cNvGrpSpPr/>
          <p:nvPr/>
        </p:nvGrpSpPr>
        <p:grpSpPr>
          <a:xfrm>
            <a:off x="2641667" y="-6482951"/>
            <a:ext cx="7785100" cy="779721"/>
            <a:chOff x="2497376" y="326477"/>
            <a:chExt cx="7785100" cy="779721"/>
          </a:xfrm>
        </p:grpSpPr>
        <p:sp>
          <p:nvSpPr>
            <p:cNvPr id="76" name="Téglalap: lekerekített 75">
              <a:extLst>
                <a:ext uri="{FF2B5EF4-FFF2-40B4-BE49-F238E27FC236}">
                  <a16:creationId xmlns:a16="http://schemas.microsoft.com/office/drawing/2014/main" id="{B204CA6A-355A-8709-4E2B-460DF33918D7}"/>
                </a:ext>
              </a:extLst>
            </p:cNvPr>
            <p:cNvSpPr/>
            <p:nvPr/>
          </p:nvSpPr>
          <p:spPr>
            <a:xfrm>
              <a:off x="2497376" y="326477"/>
              <a:ext cx="7785100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7" name="Szövegdoboz 76">
              <a:extLst>
                <a:ext uri="{FF2B5EF4-FFF2-40B4-BE49-F238E27FC236}">
                  <a16:creationId xmlns:a16="http://schemas.microsoft.com/office/drawing/2014/main" id="{25AA225A-5378-AF7B-F4C2-A284BD123AEE}"/>
                </a:ext>
              </a:extLst>
            </p:cNvPr>
            <p:cNvSpPr txBox="1"/>
            <p:nvPr/>
          </p:nvSpPr>
          <p:spPr>
            <a:xfrm>
              <a:off x="3409783" y="359236"/>
              <a:ext cx="59731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Funkciók és algoritmusok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6EBAB4DF-95C4-4C0F-D1C1-D475A900E9F5}"/>
              </a:ext>
            </a:extLst>
          </p:cNvPr>
          <p:cNvGrpSpPr/>
          <p:nvPr/>
        </p:nvGrpSpPr>
        <p:grpSpPr>
          <a:xfrm>
            <a:off x="1635761" y="-5356003"/>
            <a:ext cx="5028819" cy="4939591"/>
            <a:chOff x="3455862" y="719798"/>
            <a:chExt cx="7285776" cy="7023241"/>
          </a:xfrm>
        </p:grpSpPr>
        <p:sp>
          <p:nvSpPr>
            <p:cNvPr id="3" name="Téglalap: szamárfül 2">
              <a:extLst>
                <a:ext uri="{FF2B5EF4-FFF2-40B4-BE49-F238E27FC236}">
                  <a16:creationId xmlns:a16="http://schemas.microsoft.com/office/drawing/2014/main" id="{8CC5D92E-3DCA-C7B8-E9AF-4AA31F028BE4}"/>
                </a:ext>
              </a:extLst>
            </p:cNvPr>
            <p:cNvSpPr/>
            <p:nvPr/>
          </p:nvSpPr>
          <p:spPr>
            <a:xfrm>
              <a:off x="3455862" y="719798"/>
              <a:ext cx="7285776" cy="7023241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DC1EC70F-A1A7-528E-1F8F-3FAA00A60D6C}"/>
                </a:ext>
              </a:extLst>
            </p:cNvPr>
            <p:cNvSpPr txBox="1"/>
            <p:nvPr/>
          </p:nvSpPr>
          <p:spPr>
            <a:xfrm>
              <a:off x="3773241" y="1050174"/>
              <a:ext cx="6356329" cy="5987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Munka feltöltés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szakembereket kereső személyek hirdethetik azt a munkát melyben segítség kell.</a:t>
              </a:r>
              <a:endParaRPr lang="hu-HU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Munka keresés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felhasználók egyszerűen megtalálhatják a számukra megfelelő munkát.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Jelentkezés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Megtekinthetik az általuk már regisztrált feladatra, meggondolás esetén lemondható.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759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C6E5E-F9AD-07DA-C8FE-92599DE5B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églalap 73">
            <a:extLst>
              <a:ext uri="{FF2B5EF4-FFF2-40B4-BE49-F238E27FC236}">
                <a16:creationId xmlns:a16="http://schemas.microsoft.com/office/drawing/2014/main" id="{617AA9D4-5666-8FA6-3C17-71FEB8F3097B}"/>
              </a:ext>
            </a:extLst>
          </p:cNvPr>
          <p:cNvSpPr/>
          <p:nvPr/>
        </p:nvSpPr>
        <p:spPr>
          <a:xfrm>
            <a:off x="0" y="0"/>
            <a:ext cx="12191640" cy="6858000"/>
          </a:xfrm>
          <a:prstGeom prst="rect">
            <a:avLst/>
          </a:prstGeom>
          <a:gradFill>
            <a:gsLst>
              <a:gs pos="74000">
                <a:srgbClr val="9140BE"/>
              </a:gs>
              <a:gs pos="87000">
                <a:srgbClr val="743498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abadkézi sokszög: alakzat 22">
            <a:extLst>
              <a:ext uri="{FF2B5EF4-FFF2-40B4-BE49-F238E27FC236}">
                <a16:creationId xmlns:a16="http://schemas.microsoft.com/office/drawing/2014/main" id="{186F9A16-B762-2EB4-034B-03612AF23EE2}"/>
              </a:ext>
            </a:extLst>
          </p:cNvPr>
          <p:cNvSpPr/>
          <p:nvPr/>
        </p:nvSpPr>
        <p:spPr>
          <a:xfrm>
            <a:off x="-19049" y="-8348762"/>
            <a:ext cx="1236896" cy="21165363"/>
          </a:xfrm>
          <a:custGeom>
            <a:avLst/>
            <a:gdLst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7" fmla="*/ 1230945 w 1230945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83691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31487"/>
              <a:gd name="csY0" fmla="*/ 0 h 21165363"/>
              <a:gd name="csX1" fmla="*/ 1230945 w 1231487"/>
              <a:gd name="csY1" fmla="*/ 9483691 h 21165363"/>
              <a:gd name="csX2" fmla="*/ 579101 w 1231487"/>
              <a:gd name="csY2" fmla="*/ 10629579 h 21165363"/>
              <a:gd name="csX3" fmla="*/ 1230945 w 1231487"/>
              <a:gd name="csY3" fmla="*/ 11741211 h 21165363"/>
              <a:gd name="csX4" fmla="*/ 1230945 w 1231487"/>
              <a:gd name="csY4" fmla="*/ 21165363 h 21165363"/>
              <a:gd name="csX5" fmla="*/ 0 w 1231487"/>
              <a:gd name="csY5" fmla="*/ 21165363 h 21165363"/>
              <a:gd name="csX6" fmla="*/ 0 w 1231487"/>
              <a:gd name="csY6" fmla="*/ 0 h 21165363"/>
              <a:gd name="csX7" fmla="*/ 1230945 w 1231487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6896" h="21165363">
                <a:moveTo>
                  <a:pt x="1230945" y="0"/>
                </a:moveTo>
                <a:cubicBezTo>
                  <a:pt x="1230945" y="3158848"/>
                  <a:pt x="1244335" y="8705073"/>
                  <a:pt x="1230945" y="9483691"/>
                </a:cubicBezTo>
                <a:cubicBezTo>
                  <a:pt x="1217555" y="10262309"/>
                  <a:pt x="579101" y="10253326"/>
                  <a:pt x="579101" y="10629579"/>
                </a:cubicBezTo>
                <a:cubicBezTo>
                  <a:pt x="579101" y="11005832"/>
                  <a:pt x="1234223" y="10971091"/>
                  <a:pt x="1230945" y="11741211"/>
                </a:cubicBezTo>
                <a:cubicBezTo>
                  <a:pt x="1227667" y="12511331"/>
                  <a:pt x="1230945" y="18023979"/>
                  <a:pt x="1230945" y="21165363"/>
                </a:cubicBezTo>
                <a:lnTo>
                  <a:pt x="0" y="21165363"/>
                </a:lnTo>
                <a:lnTo>
                  <a:pt x="0" y="0"/>
                </a:lnTo>
                <a:lnTo>
                  <a:pt x="1230945" y="0"/>
                </a:lnTo>
                <a:close/>
              </a:path>
            </a:pathLst>
          </a:custGeom>
          <a:solidFill>
            <a:srgbClr val="7B3D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 dirty="0"/>
          </a:p>
        </p:txBody>
      </p:sp>
      <p:pic>
        <p:nvPicPr>
          <p:cNvPr id="7" name="Ábra 6" descr="Telitalálat egyszínű kitöltéssel">
            <a:extLst>
              <a:ext uri="{FF2B5EF4-FFF2-40B4-BE49-F238E27FC236}">
                <a16:creationId xmlns:a16="http://schemas.microsoft.com/office/drawing/2014/main" id="{2B55C077-F081-9D65-3B92-2E14D5FD8F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59805" y="190500"/>
            <a:ext cx="914400" cy="914400"/>
          </a:xfrm>
          <a:prstGeom prst="rect">
            <a:avLst/>
          </a:prstGeom>
        </p:spPr>
      </p:pic>
      <p:pic>
        <p:nvPicPr>
          <p:cNvPr id="9" name="Ábra 8" descr="Villám egyszínű kitöltéssel">
            <a:extLst>
              <a:ext uri="{FF2B5EF4-FFF2-40B4-BE49-F238E27FC236}">
                <a16:creationId xmlns:a16="http://schemas.microsoft.com/office/drawing/2014/main" id="{B7050B2E-7F43-8450-081B-B0D3C4213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097" y="1828455"/>
            <a:ext cx="914400" cy="914400"/>
          </a:xfrm>
          <a:prstGeom prst="rect">
            <a:avLst/>
          </a:prstGeom>
        </p:spPr>
      </p:pic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3024B791-75B6-E113-0ADB-4399AFC519A7}"/>
              </a:ext>
            </a:extLst>
          </p:cNvPr>
          <p:cNvGrpSpPr/>
          <p:nvPr/>
        </p:nvGrpSpPr>
        <p:grpSpPr>
          <a:xfrm>
            <a:off x="-1529875" y="2514600"/>
            <a:ext cx="1370646" cy="1370646"/>
            <a:chOff x="-2330451" y="2426177"/>
            <a:chExt cx="1370646" cy="1370646"/>
          </a:xfrm>
          <a:solidFill>
            <a:schemeClr val="bg1"/>
          </a:solidFill>
        </p:grpSpPr>
        <p:pic>
          <p:nvPicPr>
            <p:cNvPr id="14" name="Ábra 13" descr="Kör nyíllal egyszínű kitöltéssel">
              <a:extLst>
                <a:ext uri="{FF2B5EF4-FFF2-40B4-BE49-F238E27FC236}">
                  <a16:creationId xmlns:a16="http://schemas.microsoft.com/office/drawing/2014/main" id="{A8629BEC-8409-CBE7-AC27-7EE69C6287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15" name="Ábra 14" descr="Villanykörte és fogaskerék egyszínű kitöltéssel">
              <a:extLst>
                <a:ext uri="{FF2B5EF4-FFF2-40B4-BE49-F238E27FC236}">
                  <a16:creationId xmlns:a16="http://schemas.microsoft.com/office/drawing/2014/main" id="{E9762989-D9BD-5A8A-ACEC-D8E4A78D92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17" name="Ábra 16" descr="Bemutató sávdiagrammal egyszínű kitöltéssel">
            <a:extLst>
              <a:ext uri="{FF2B5EF4-FFF2-40B4-BE49-F238E27FC236}">
                <a16:creationId xmlns:a16="http://schemas.microsoft.com/office/drawing/2014/main" id="{3599AA07-48B4-1BB5-9FA5-A33161F90C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66156" y="3847920"/>
            <a:ext cx="914400" cy="914400"/>
          </a:xfrm>
          <a:prstGeom prst="rect">
            <a:avLst/>
          </a:prstGeom>
        </p:spPr>
      </p:pic>
      <p:pic>
        <p:nvPicPr>
          <p:cNvPr id="19" name="Ábra 18" descr="Adatbázis egyszínű kitöltéssel">
            <a:extLst>
              <a:ext uri="{FF2B5EF4-FFF2-40B4-BE49-F238E27FC236}">
                <a16:creationId xmlns:a16="http://schemas.microsoft.com/office/drawing/2014/main" id="{42B768CA-4380-9149-8E59-D83084B68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68069" y="4825910"/>
            <a:ext cx="914400" cy="914400"/>
          </a:xfrm>
          <a:prstGeom prst="rect">
            <a:avLst/>
          </a:prstGeom>
        </p:spPr>
      </p:pic>
      <p:pic>
        <p:nvPicPr>
          <p:cNvPr id="21" name="Ábra 20" descr="Dokumentum egyszínű kitöltéssel">
            <a:extLst>
              <a:ext uri="{FF2B5EF4-FFF2-40B4-BE49-F238E27FC236}">
                <a16:creationId xmlns:a16="http://schemas.microsoft.com/office/drawing/2014/main" id="{E2AAC6A8-4E7C-1284-6722-85890B6E46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955369" y="5937550"/>
            <a:ext cx="914400" cy="914400"/>
          </a:xfrm>
          <a:prstGeom prst="rect">
            <a:avLst/>
          </a:prstGeom>
        </p:spPr>
      </p:pic>
      <p:grpSp>
        <p:nvGrpSpPr>
          <p:cNvPr id="65" name="Csoportba foglalás 64">
            <a:extLst>
              <a:ext uri="{FF2B5EF4-FFF2-40B4-BE49-F238E27FC236}">
                <a16:creationId xmlns:a16="http://schemas.microsoft.com/office/drawing/2014/main" id="{534A4D8F-1872-A80D-0CC4-3EA6CF3EB17C}"/>
              </a:ext>
            </a:extLst>
          </p:cNvPr>
          <p:cNvGrpSpPr/>
          <p:nvPr/>
        </p:nvGrpSpPr>
        <p:grpSpPr>
          <a:xfrm>
            <a:off x="1635761" y="1526604"/>
            <a:ext cx="5028819" cy="4939591"/>
            <a:chOff x="3455862" y="719798"/>
            <a:chExt cx="7285776" cy="7023241"/>
          </a:xfrm>
        </p:grpSpPr>
        <p:sp>
          <p:nvSpPr>
            <p:cNvPr id="66" name="Téglalap: szamárfül 65">
              <a:extLst>
                <a:ext uri="{FF2B5EF4-FFF2-40B4-BE49-F238E27FC236}">
                  <a16:creationId xmlns:a16="http://schemas.microsoft.com/office/drawing/2014/main" id="{396AF7C1-74B3-EAFD-CCCC-D62D8C88D5F7}"/>
                </a:ext>
              </a:extLst>
            </p:cNvPr>
            <p:cNvSpPr/>
            <p:nvPr/>
          </p:nvSpPr>
          <p:spPr>
            <a:xfrm>
              <a:off x="3455862" y="719798"/>
              <a:ext cx="7285776" cy="7023241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67" name="Szövegdoboz 66">
              <a:extLst>
                <a:ext uri="{FF2B5EF4-FFF2-40B4-BE49-F238E27FC236}">
                  <a16:creationId xmlns:a16="http://schemas.microsoft.com/office/drawing/2014/main" id="{F3FAF2C5-474F-0D44-E0CD-76575FEF7A37}"/>
                </a:ext>
              </a:extLst>
            </p:cNvPr>
            <p:cNvSpPr txBox="1"/>
            <p:nvPr/>
          </p:nvSpPr>
          <p:spPr>
            <a:xfrm>
              <a:off x="3773241" y="1050174"/>
              <a:ext cx="6356329" cy="5987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Munka feltöltés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szakembereket kereső személyek hirdethetik azt a munkát melyben segítség kell.</a:t>
              </a:r>
              <a:endParaRPr lang="hu-HU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Munka keresés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felhasználók egyszerűen megtalálhatják a számukra megfelelő munkát.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Jelentkezés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Megtekinthetik az általuk már regisztrált feladatra, meggondolás esetén lemondható.</a:t>
              </a:r>
            </a:p>
          </p:txBody>
        </p:sp>
      </p:grpSp>
      <p:grpSp>
        <p:nvGrpSpPr>
          <p:cNvPr id="68" name="Csoportba foglalás 67">
            <a:extLst>
              <a:ext uri="{FF2B5EF4-FFF2-40B4-BE49-F238E27FC236}">
                <a16:creationId xmlns:a16="http://schemas.microsoft.com/office/drawing/2014/main" id="{EA5AD9EC-DAE4-7388-0AFD-FEFAF514CB19}"/>
              </a:ext>
            </a:extLst>
          </p:cNvPr>
          <p:cNvGrpSpPr/>
          <p:nvPr/>
        </p:nvGrpSpPr>
        <p:grpSpPr>
          <a:xfrm>
            <a:off x="6805796" y="1526605"/>
            <a:ext cx="5028818" cy="4906832"/>
            <a:chOff x="3455862" y="719799"/>
            <a:chExt cx="7285776" cy="6976664"/>
          </a:xfrm>
        </p:grpSpPr>
        <p:sp>
          <p:nvSpPr>
            <p:cNvPr id="69" name="Téglalap: szamárfül 68">
              <a:extLst>
                <a:ext uri="{FF2B5EF4-FFF2-40B4-BE49-F238E27FC236}">
                  <a16:creationId xmlns:a16="http://schemas.microsoft.com/office/drawing/2014/main" id="{0920B6D3-DBA8-4CDE-3AAA-BF8FFD004EA1}"/>
                </a:ext>
              </a:extLst>
            </p:cNvPr>
            <p:cNvSpPr/>
            <p:nvPr/>
          </p:nvSpPr>
          <p:spPr>
            <a:xfrm>
              <a:off x="3455862" y="719799"/>
              <a:ext cx="7285776" cy="6976664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70" name="Szövegdoboz 69">
              <a:extLst>
                <a:ext uri="{FF2B5EF4-FFF2-40B4-BE49-F238E27FC236}">
                  <a16:creationId xmlns:a16="http://schemas.microsoft.com/office/drawing/2014/main" id="{0B3A9A1F-BCD4-0FE9-1BC4-B5CDC6336FD9}"/>
                </a:ext>
              </a:extLst>
            </p:cNvPr>
            <p:cNvSpPr txBox="1"/>
            <p:nvPr/>
          </p:nvSpPr>
          <p:spPr>
            <a:xfrm>
              <a:off x="3763396" y="1061475"/>
              <a:ext cx="6356328" cy="6250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Regisztráció és bejelentkezés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40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Oldalhoz való csatlakozást és belépést lehetővé tettük.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Fiók szerkesztés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40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Általános adatokat és profilképet változtathatnak a felhasználók.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Hibajelentés és segítségkérés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  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Bejelenteni kívánt hibákat vagy problémákat jelezhetik a csapatnak.</a:t>
              </a:r>
            </a:p>
          </p:txBody>
        </p:sp>
      </p:grpSp>
      <p:grpSp>
        <p:nvGrpSpPr>
          <p:cNvPr id="71" name="Csoportba foglalás 70">
            <a:extLst>
              <a:ext uri="{FF2B5EF4-FFF2-40B4-BE49-F238E27FC236}">
                <a16:creationId xmlns:a16="http://schemas.microsoft.com/office/drawing/2014/main" id="{BD4A9FEF-BE39-1A06-D14E-18375B130CA6}"/>
              </a:ext>
            </a:extLst>
          </p:cNvPr>
          <p:cNvGrpSpPr/>
          <p:nvPr/>
        </p:nvGrpSpPr>
        <p:grpSpPr>
          <a:xfrm>
            <a:off x="2641667" y="391804"/>
            <a:ext cx="7785100" cy="779721"/>
            <a:chOff x="2497376" y="326477"/>
            <a:chExt cx="7785100" cy="779721"/>
          </a:xfrm>
        </p:grpSpPr>
        <p:sp>
          <p:nvSpPr>
            <p:cNvPr id="72" name="Téglalap: lekerekített 71">
              <a:extLst>
                <a:ext uri="{FF2B5EF4-FFF2-40B4-BE49-F238E27FC236}">
                  <a16:creationId xmlns:a16="http://schemas.microsoft.com/office/drawing/2014/main" id="{02B249EB-6D6B-1A94-018C-53DD98D1703A}"/>
                </a:ext>
              </a:extLst>
            </p:cNvPr>
            <p:cNvSpPr/>
            <p:nvPr/>
          </p:nvSpPr>
          <p:spPr>
            <a:xfrm>
              <a:off x="2497376" y="326477"/>
              <a:ext cx="7785100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73" name="Szövegdoboz 72">
              <a:extLst>
                <a:ext uri="{FF2B5EF4-FFF2-40B4-BE49-F238E27FC236}">
                  <a16:creationId xmlns:a16="http://schemas.microsoft.com/office/drawing/2014/main" id="{AEA41681-83C2-5312-776A-50EB3EB07866}"/>
                </a:ext>
              </a:extLst>
            </p:cNvPr>
            <p:cNvSpPr txBox="1"/>
            <p:nvPr/>
          </p:nvSpPr>
          <p:spPr>
            <a:xfrm>
              <a:off x="3409783" y="359236"/>
              <a:ext cx="59731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Funkciók és algoritmusok</a:t>
              </a:r>
            </a:p>
          </p:txBody>
        </p:sp>
      </p:grpSp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9E09EFFF-0D6D-3400-EA12-3063CB5D4761}"/>
              </a:ext>
            </a:extLst>
          </p:cNvPr>
          <p:cNvGrpSpPr/>
          <p:nvPr/>
        </p:nvGrpSpPr>
        <p:grpSpPr>
          <a:xfrm>
            <a:off x="2641667" y="7237104"/>
            <a:ext cx="7785100" cy="779721"/>
            <a:chOff x="2497376" y="326477"/>
            <a:chExt cx="7785100" cy="779721"/>
          </a:xfrm>
        </p:grpSpPr>
        <p:sp>
          <p:nvSpPr>
            <p:cNvPr id="56" name="Téglalap: lekerekített 55">
              <a:extLst>
                <a:ext uri="{FF2B5EF4-FFF2-40B4-BE49-F238E27FC236}">
                  <a16:creationId xmlns:a16="http://schemas.microsoft.com/office/drawing/2014/main" id="{C202E846-53B8-0B63-E089-03CEF4D93B98}"/>
                </a:ext>
              </a:extLst>
            </p:cNvPr>
            <p:cNvSpPr/>
            <p:nvPr/>
          </p:nvSpPr>
          <p:spPr>
            <a:xfrm>
              <a:off x="2497376" y="326477"/>
              <a:ext cx="7785100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7" name="Szövegdoboz 56">
              <a:extLst>
                <a:ext uri="{FF2B5EF4-FFF2-40B4-BE49-F238E27FC236}">
                  <a16:creationId xmlns:a16="http://schemas.microsoft.com/office/drawing/2014/main" id="{567061DC-99E2-417B-00E5-680072891884}"/>
                </a:ext>
              </a:extLst>
            </p:cNvPr>
            <p:cNvSpPr txBox="1"/>
            <p:nvPr/>
          </p:nvSpPr>
          <p:spPr>
            <a:xfrm>
              <a:off x="2900830" y="342900"/>
              <a:ext cx="697819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Témaválasztás és célkitűzés</a:t>
              </a:r>
            </a:p>
          </p:txBody>
        </p:sp>
      </p:grpSp>
      <p:grpSp>
        <p:nvGrpSpPr>
          <p:cNvPr id="61" name="Csoportba foglalás 60">
            <a:extLst>
              <a:ext uri="{FF2B5EF4-FFF2-40B4-BE49-F238E27FC236}">
                <a16:creationId xmlns:a16="http://schemas.microsoft.com/office/drawing/2014/main" id="{A64CA290-228C-9DEF-D0BC-F113C38EEE9E}"/>
              </a:ext>
            </a:extLst>
          </p:cNvPr>
          <p:cNvGrpSpPr/>
          <p:nvPr/>
        </p:nvGrpSpPr>
        <p:grpSpPr>
          <a:xfrm>
            <a:off x="1635761" y="8382808"/>
            <a:ext cx="4998720" cy="2597612"/>
            <a:chOff x="1243080" y="984134"/>
            <a:chExt cx="4998720" cy="2110691"/>
          </a:xfrm>
        </p:grpSpPr>
        <p:sp>
          <p:nvSpPr>
            <p:cNvPr id="62" name="Téglalap: szamárfül 61">
              <a:extLst>
                <a:ext uri="{FF2B5EF4-FFF2-40B4-BE49-F238E27FC236}">
                  <a16:creationId xmlns:a16="http://schemas.microsoft.com/office/drawing/2014/main" id="{B5B5D37C-B57C-43D0-CC1A-24416054E534}"/>
                </a:ext>
              </a:extLst>
            </p:cNvPr>
            <p:cNvSpPr/>
            <p:nvPr/>
          </p:nvSpPr>
          <p:spPr>
            <a:xfrm>
              <a:off x="1243080" y="984134"/>
              <a:ext cx="4998720" cy="2110691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63" name="Szövegdoboz 62">
              <a:extLst>
                <a:ext uri="{FF2B5EF4-FFF2-40B4-BE49-F238E27FC236}">
                  <a16:creationId xmlns:a16="http://schemas.microsoft.com/office/drawing/2014/main" id="{06772BE9-168B-2C21-AA93-598F68F3354F}"/>
                </a:ext>
              </a:extLst>
            </p:cNvPr>
            <p:cNvSpPr txBox="1"/>
            <p:nvPr/>
          </p:nvSpPr>
          <p:spPr>
            <a:xfrm>
              <a:off x="1473021" y="1216226"/>
              <a:ext cx="4622799" cy="1454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Igények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2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Rugalmas munkavégzés</a:t>
              </a:r>
            </a:p>
            <a:p>
              <a:pPr marL="742950" lvl="1" indent="-285750">
                <a:spcAft>
                  <a:spcPts val="2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Képesítést nem igénylő feladatok</a:t>
              </a:r>
            </a:p>
            <a:p>
              <a:pPr marL="742950" lvl="1" indent="-285750">
                <a:spcAft>
                  <a:spcPts val="3000"/>
                </a:spcAft>
                <a:buFontTx/>
                <a:buChar char="-"/>
                <a:tabLst>
                  <a:tab pos="266700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Gyors jövedelemszerzés</a:t>
              </a:r>
            </a:p>
          </p:txBody>
        </p:sp>
      </p:grpSp>
      <p:pic>
        <p:nvPicPr>
          <p:cNvPr id="46" name="Ábra 45" descr="Telitalálat egyszínű kitöltéssel">
            <a:hlinkClick r:id="rId10" action="ppaction://hlinksldjump"/>
            <a:extLst>
              <a:ext uri="{FF2B5EF4-FFF2-40B4-BE49-F238E27FC236}">
                <a16:creationId xmlns:a16="http://schemas.microsoft.com/office/drawing/2014/main" id="{136DB748-3630-FF4E-7F29-290A8D5BB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8548" y="614865"/>
            <a:ext cx="914400" cy="914400"/>
          </a:xfrm>
          <a:prstGeom prst="rect">
            <a:avLst/>
          </a:prstGeom>
        </p:spPr>
      </p:pic>
      <p:grpSp>
        <p:nvGrpSpPr>
          <p:cNvPr id="48" name="Csoportba foglalás 47">
            <a:extLst>
              <a:ext uri="{FF2B5EF4-FFF2-40B4-BE49-F238E27FC236}">
                <a16:creationId xmlns:a16="http://schemas.microsoft.com/office/drawing/2014/main" id="{6881D56F-FD3E-434D-7F43-D9B1778838AF}"/>
              </a:ext>
            </a:extLst>
          </p:cNvPr>
          <p:cNvGrpSpPr/>
          <p:nvPr/>
        </p:nvGrpSpPr>
        <p:grpSpPr>
          <a:xfrm>
            <a:off x="-100405" y="2775924"/>
            <a:ext cx="1370646" cy="1370646"/>
            <a:chOff x="-2330451" y="2426177"/>
            <a:chExt cx="1370646" cy="1370646"/>
          </a:xfrm>
          <a:solidFill>
            <a:schemeClr val="bg1">
              <a:lumMod val="65000"/>
            </a:schemeClr>
          </a:solidFill>
        </p:grpSpPr>
        <p:pic>
          <p:nvPicPr>
            <p:cNvPr id="49" name="Ábra 48" descr="Kör nyíllal egyszínű kitöltéssel">
              <a:extLst>
                <a:ext uri="{FF2B5EF4-FFF2-40B4-BE49-F238E27FC236}">
                  <a16:creationId xmlns:a16="http://schemas.microsoft.com/office/drawing/2014/main" id="{7E452725-B989-1BA4-5154-79209A8EE2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50" name="Ábra 49" descr="Villanykörte és fogaskerék egyszínű kitöltéssel">
              <a:hlinkClick r:id="rId13" action="ppaction://hlinksldjump"/>
              <a:extLst>
                <a:ext uri="{FF2B5EF4-FFF2-40B4-BE49-F238E27FC236}">
                  <a16:creationId xmlns:a16="http://schemas.microsoft.com/office/drawing/2014/main" id="{6B2EDA5B-CF1C-3741-CD58-AE678C48EC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51" name="Ábra 50" descr="Dokumentum egyszínű kitöltéssel">
            <a:hlinkClick r:id="rId15" action="ppaction://hlinksldjump"/>
            <a:extLst>
              <a:ext uri="{FF2B5EF4-FFF2-40B4-BE49-F238E27FC236}">
                <a16:creationId xmlns:a16="http://schemas.microsoft.com/office/drawing/2014/main" id="{1CCCD61D-C2E2-E0A4-0354-18DF426B0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4349" y="5507128"/>
            <a:ext cx="914400" cy="914400"/>
          </a:xfrm>
          <a:prstGeom prst="rect">
            <a:avLst/>
          </a:prstGeom>
        </p:spPr>
      </p:pic>
      <p:pic>
        <p:nvPicPr>
          <p:cNvPr id="52" name="Ábra 51" descr="Adatbázis egyszínű kitöltéssel">
            <a:hlinkClick r:id="rId17" action="ppaction://hlinksldjump"/>
            <a:extLst>
              <a:ext uri="{FF2B5EF4-FFF2-40B4-BE49-F238E27FC236}">
                <a16:creationId xmlns:a16="http://schemas.microsoft.com/office/drawing/2014/main" id="{BE9900B5-B421-D072-5174-BBE5FD07D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718" y="4238084"/>
            <a:ext cx="914400" cy="914400"/>
          </a:xfrm>
          <a:prstGeom prst="rect">
            <a:avLst/>
          </a:prstGeom>
        </p:spPr>
      </p:pic>
      <p:grpSp>
        <p:nvGrpSpPr>
          <p:cNvPr id="25" name="Csoportba foglalás 24">
            <a:extLst>
              <a:ext uri="{FF2B5EF4-FFF2-40B4-BE49-F238E27FC236}">
                <a16:creationId xmlns:a16="http://schemas.microsoft.com/office/drawing/2014/main" id="{A4667874-8957-81CE-18AB-7AF2BAFFD39D}"/>
              </a:ext>
            </a:extLst>
          </p:cNvPr>
          <p:cNvGrpSpPr/>
          <p:nvPr/>
        </p:nvGrpSpPr>
        <p:grpSpPr>
          <a:xfrm>
            <a:off x="2011747" y="-4279280"/>
            <a:ext cx="4424582" cy="3899849"/>
            <a:chOff x="3175069" y="1369826"/>
            <a:chExt cx="7290608" cy="2096668"/>
          </a:xfrm>
        </p:grpSpPr>
        <p:sp>
          <p:nvSpPr>
            <p:cNvPr id="26" name="Téglalap: szamárfül 25">
              <a:extLst>
                <a:ext uri="{FF2B5EF4-FFF2-40B4-BE49-F238E27FC236}">
                  <a16:creationId xmlns:a16="http://schemas.microsoft.com/office/drawing/2014/main" id="{8EA01116-18D2-4FB0-5254-29EC97BDCFE7}"/>
                </a:ext>
              </a:extLst>
            </p:cNvPr>
            <p:cNvSpPr/>
            <p:nvPr/>
          </p:nvSpPr>
          <p:spPr>
            <a:xfrm>
              <a:off x="3175069" y="1369826"/>
              <a:ext cx="7290608" cy="2096668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4657F200-7760-310C-A450-69DF20D689AE}"/>
                </a:ext>
              </a:extLst>
            </p:cNvPr>
            <p:cNvSpPr txBox="1"/>
            <p:nvPr/>
          </p:nvSpPr>
          <p:spPr>
            <a:xfrm>
              <a:off x="3226678" y="1552915"/>
              <a:ext cx="7238999" cy="1792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Ötletek és igények felmérése.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Weboldal felépítése és munkakörök felosztása.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Rugalmas, bővíthető adatbázis.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 és Backend összehangolása, tervezése.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Tesztelés, megbeszélés, hibakezelés.</a:t>
              </a:r>
            </a:p>
          </p:txBody>
        </p:sp>
      </p:grpSp>
      <p:grpSp>
        <p:nvGrpSpPr>
          <p:cNvPr id="28" name="Csoportba foglalás 27">
            <a:extLst>
              <a:ext uri="{FF2B5EF4-FFF2-40B4-BE49-F238E27FC236}">
                <a16:creationId xmlns:a16="http://schemas.microsoft.com/office/drawing/2014/main" id="{72473261-3389-6164-5CEC-61A6E8777E4B}"/>
              </a:ext>
            </a:extLst>
          </p:cNvPr>
          <p:cNvGrpSpPr/>
          <p:nvPr/>
        </p:nvGrpSpPr>
        <p:grpSpPr>
          <a:xfrm>
            <a:off x="6881891" y="-4295647"/>
            <a:ext cx="4832589" cy="3899851"/>
            <a:chOff x="5633885" y="3822612"/>
            <a:chExt cx="5953622" cy="2933788"/>
          </a:xfrm>
        </p:grpSpPr>
        <p:sp>
          <p:nvSpPr>
            <p:cNvPr id="29" name="Téglalap: szamárfül 28">
              <a:extLst>
                <a:ext uri="{FF2B5EF4-FFF2-40B4-BE49-F238E27FC236}">
                  <a16:creationId xmlns:a16="http://schemas.microsoft.com/office/drawing/2014/main" id="{3EC4709F-EBCA-F8DA-6BEF-AF8117197035}"/>
                </a:ext>
              </a:extLst>
            </p:cNvPr>
            <p:cNvSpPr/>
            <p:nvPr/>
          </p:nvSpPr>
          <p:spPr>
            <a:xfrm>
              <a:off x="5633885" y="3822612"/>
              <a:ext cx="5953622" cy="2933788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B4AB1980-E309-9E4D-FBB9-53F0E13143BB}"/>
                </a:ext>
              </a:extLst>
            </p:cNvPr>
            <p:cNvSpPr txBox="1"/>
            <p:nvPr/>
          </p:nvSpPr>
          <p:spPr>
            <a:xfrm>
              <a:off x="5723282" y="4049860"/>
              <a:ext cx="5544158" cy="2188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263525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Dizájn:</a:t>
              </a:r>
            </a:p>
            <a:p>
              <a:pPr marL="742950" lvl="2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Választható sötét és világos téma.</a:t>
              </a:r>
            </a:p>
            <a:p>
              <a:pPr marL="742950" lvl="1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Könnyen navigálható, rugalmas és modern.</a:t>
              </a:r>
            </a:p>
            <a:p>
              <a:pPr marL="742950" lvl="1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Elérhető okostelefonon, tableten és asztali számítógépen is.</a:t>
              </a:r>
            </a:p>
          </p:txBody>
        </p:sp>
      </p:grpSp>
      <p:grpSp>
        <p:nvGrpSpPr>
          <p:cNvPr id="35" name="Csoportba foglalás 34">
            <a:extLst>
              <a:ext uri="{FF2B5EF4-FFF2-40B4-BE49-F238E27FC236}">
                <a16:creationId xmlns:a16="http://schemas.microsoft.com/office/drawing/2014/main" id="{BE3612D2-051E-57D0-EB51-4248C473DE77}"/>
              </a:ext>
            </a:extLst>
          </p:cNvPr>
          <p:cNvGrpSpPr/>
          <p:nvPr/>
        </p:nvGrpSpPr>
        <p:grpSpPr>
          <a:xfrm>
            <a:off x="2306386" y="-5421455"/>
            <a:ext cx="9042334" cy="779721"/>
            <a:chOff x="2497375" y="326477"/>
            <a:chExt cx="9042334" cy="779721"/>
          </a:xfrm>
        </p:grpSpPr>
        <p:sp>
          <p:nvSpPr>
            <p:cNvPr id="36" name="Téglalap: lekerekített 35">
              <a:extLst>
                <a:ext uri="{FF2B5EF4-FFF2-40B4-BE49-F238E27FC236}">
                  <a16:creationId xmlns:a16="http://schemas.microsoft.com/office/drawing/2014/main" id="{8D5D2E44-A958-8A75-1AF8-459D772EDB86}"/>
                </a:ext>
              </a:extLst>
            </p:cNvPr>
            <p:cNvSpPr/>
            <p:nvPr/>
          </p:nvSpPr>
          <p:spPr>
            <a:xfrm>
              <a:off x="2497375" y="326477"/>
              <a:ext cx="9042334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7" name="Szövegdoboz 36">
              <a:extLst>
                <a:ext uri="{FF2B5EF4-FFF2-40B4-BE49-F238E27FC236}">
                  <a16:creationId xmlns:a16="http://schemas.microsoft.com/office/drawing/2014/main" id="{12463353-2FAD-F767-D015-AA605525A6D7}"/>
                </a:ext>
              </a:extLst>
            </p:cNvPr>
            <p:cNvSpPr txBox="1"/>
            <p:nvPr/>
          </p:nvSpPr>
          <p:spPr>
            <a:xfrm>
              <a:off x="2900830" y="342900"/>
              <a:ext cx="83701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fejlesztés menete és megjelenése</a:t>
              </a:r>
            </a:p>
          </p:txBody>
        </p:sp>
      </p:grp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FC59193D-8B4E-9E6A-0BFD-4088D7A0B697}"/>
              </a:ext>
            </a:extLst>
          </p:cNvPr>
          <p:cNvGrpSpPr/>
          <p:nvPr/>
        </p:nvGrpSpPr>
        <p:grpSpPr>
          <a:xfrm>
            <a:off x="6805796" y="8378810"/>
            <a:ext cx="4998720" cy="4354084"/>
            <a:chOff x="6312310" y="-5082974"/>
            <a:chExt cx="4998720" cy="4354084"/>
          </a:xfrm>
        </p:grpSpPr>
        <p:sp>
          <p:nvSpPr>
            <p:cNvPr id="3" name="Téglalap: szamárfül 2">
              <a:extLst>
                <a:ext uri="{FF2B5EF4-FFF2-40B4-BE49-F238E27FC236}">
                  <a16:creationId xmlns:a16="http://schemas.microsoft.com/office/drawing/2014/main" id="{E2D69AA1-0938-137F-B4E7-FA3F1F7E9004}"/>
                </a:ext>
              </a:extLst>
            </p:cNvPr>
            <p:cNvSpPr/>
            <p:nvPr/>
          </p:nvSpPr>
          <p:spPr>
            <a:xfrm>
              <a:off x="6312310" y="-5082974"/>
              <a:ext cx="4998720" cy="4354084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85834116-6022-FD7C-DCC7-A3729458824A}"/>
                </a:ext>
              </a:extLst>
            </p:cNvPr>
            <p:cNvSpPr txBox="1"/>
            <p:nvPr/>
          </p:nvSpPr>
          <p:spPr>
            <a:xfrm>
              <a:off x="6445366" y="-4840514"/>
              <a:ext cx="4622799" cy="35855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Célok: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Felhasználóbarát munkaportál.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bizalomépítés érdekében értékelési 	rendszert és valós idejű statisztikákat integrálni.</a:t>
              </a:r>
            </a:p>
            <a:p>
              <a:pPr marL="742950" lvl="1" indent="-285750">
                <a:spcAft>
                  <a:spcPts val="24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Fiók szerkesztési lehetőség, hogy 	egyedivé tudják tenni a profiljukat.</a:t>
              </a:r>
            </a:p>
            <a:p>
              <a:pPr marL="742950" lvl="1" indent="-285750">
                <a:buFont typeface="Arial" panose="020B0604020202020204" pitchFamily="34" charset="0"/>
                <a:buChar char="-"/>
                <a:tabLst>
                  <a:tab pos="266700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Egyéb kérdés vagy visszajelzés 	lehetőség megadása.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9067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57917-4582-44E1-F139-71DF00630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églalap 50">
            <a:extLst>
              <a:ext uri="{FF2B5EF4-FFF2-40B4-BE49-F238E27FC236}">
                <a16:creationId xmlns:a16="http://schemas.microsoft.com/office/drawing/2014/main" id="{A2199833-8ED8-5746-F61C-15AAE81997B8}"/>
              </a:ext>
            </a:extLst>
          </p:cNvPr>
          <p:cNvSpPr/>
          <p:nvPr/>
        </p:nvSpPr>
        <p:spPr>
          <a:xfrm>
            <a:off x="0" y="0"/>
            <a:ext cx="12191640" cy="6858000"/>
          </a:xfrm>
          <a:prstGeom prst="rect">
            <a:avLst/>
          </a:prstGeom>
          <a:gradFill>
            <a:gsLst>
              <a:gs pos="74000">
                <a:srgbClr val="9140BE"/>
              </a:gs>
              <a:gs pos="87000">
                <a:srgbClr val="743498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abadkézi sokszög: alakzat 22">
            <a:extLst>
              <a:ext uri="{FF2B5EF4-FFF2-40B4-BE49-F238E27FC236}">
                <a16:creationId xmlns:a16="http://schemas.microsoft.com/office/drawing/2014/main" id="{3984F33A-D32C-03DD-64E7-791E50D716FC}"/>
              </a:ext>
            </a:extLst>
          </p:cNvPr>
          <p:cNvSpPr/>
          <p:nvPr/>
        </p:nvSpPr>
        <p:spPr>
          <a:xfrm>
            <a:off x="-8264" y="-7145902"/>
            <a:ext cx="1236896" cy="21165363"/>
          </a:xfrm>
          <a:custGeom>
            <a:avLst/>
            <a:gdLst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7" fmla="*/ 1230945 w 1230945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83691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31487"/>
              <a:gd name="csY0" fmla="*/ 0 h 21165363"/>
              <a:gd name="csX1" fmla="*/ 1230945 w 1231487"/>
              <a:gd name="csY1" fmla="*/ 9483691 h 21165363"/>
              <a:gd name="csX2" fmla="*/ 579101 w 1231487"/>
              <a:gd name="csY2" fmla="*/ 10629579 h 21165363"/>
              <a:gd name="csX3" fmla="*/ 1230945 w 1231487"/>
              <a:gd name="csY3" fmla="*/ 11741211 h 21165363"/>
              <a:gd name="csX4" fmla="*/ 1230945 w 1231487"/>
              <a:gd name="csY4" fmla="*/ 21165363 h 21165363"/>
              <a:gd name="csX5" fmla="*/ 0 w 1231487"/>
              <a:gd name="csY5" fmla="*/ 21165363 h 21165363"/>
              <a:gd name="csX6" fmla="*/ 0 w 1231487"/>
              <a:gd name="csY6" fmla="*/ 0 h 21165363"/>
              <a:gd name="csX7" fmla="*/ 1230945 w 1231487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6896" h="21165363">
                <a:moveTo>
                  <a:pt x="1230945" y="0"/>
                </a:moveTo>
                <a:cubicBezTo>
                  <a:pt x="1230945" y="3158848"/>
                  <a:pt x="1244335" y="8705073"/>
                  <a:pt x="1230945" y="9483691"/>
                </a:cubicBezTo>
                <a:cubicBezTo>
                  <a:pt x="1217555" y="10262309"/>
                  <a:pt x="579101" y="10253326"/>
                  <a:pt x="579101" y="10629579"/>
                </a:cubicBezTo>
                <a:cubicBezTo>
                  <a:pt x="579101" y="11005832"/>
                  <a:pt x="1234223" y="10971091"/>
                  <a:pt x="1230945" y="11741211"/>
                </a:cubicBezTo>
                <a:cubicBezTo>
                  <a:pt x="1227667" y="12511331"/>
                  <a:pt x="1230945" y="18023979"/>
                  <a:pt x="1230945" y="21165363"/>
                </a:cubicBezTo>
                <a:lnTo>
                  <a:pt x="0" y="21165363"/>
                </a:lnTo>
                <a:lnTo>
                  <a:pt x="0" y="0"/>
                </a:lnTo>
                <a:lnTo>
                  <a:pt x="1230945" y="0"/>
                </a:lnTo>
                <a:close/>
              </a:path>
            </a:pathLst>
          </a:custGeom>
          <a:solidFill>
            <a:srgbClr val="7B3D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/>
          </a:p>
        </p:txBody>
      </p:sp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BAA49C02-D302-3E6E-E4B2-3A7584CC51C6}"/>
              </a:ext>
            </a:extLst>
          </p:cNvPr>
          <p:cNvGrpSpPr/>
          <p:nvPr/>
        </p:nvGrpSpPr>
        <p:grpSpPr>
          <a:xfrm>
            <a:off x="2011747" y="1542400"/>
            <a:ext cx="4424582" cy="3899849"/>
            <a:chOff x="3175069" y="1369826"/>
            <a:chExt cx="7290608" cy="2096668"/>
          </a:xfrm>
        </p:grpSpPr>
        <p:sp>
          <p:nvSpPr>
            <p:cNvPr id="4" name="Téglalap: szamárfül 3">
              <a:extLst>
                <a:ext uri="{FF2B5EF4-FFF2-40B4-BE49-F238E27FC236}">
                  <a16:creationId xmlns:a16="http://schemas.microsoft.com/office/drawing/2014/main" id="{B07BF5F5-EC50-E50C-5E39-6812A892082B}"/>
                </a:ext>
              </a:extLst>
            </p:cNvPr>
            <p:cNvSpPr/>
            <p:nvPr/>
          </p:nvSpPr>
          <p:spPr>
            <a:xfrm>
              <a:off x="3175069" y="1369826"/>
              <a:ext cx="7290608" cy="2096668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" name="Szövegdoboz 2">
              <a:extLst>
                <a:ext uri="{FF2B5EF4-FFF2-40B4-BE49-F238E27FC236}">
                  <a16:creationId xmlns:a16="http://schemas.microsoft.com/office/drawing/2014/main" id="{3E0D048D-EAF7-76AD-BBB4-79F44E54B591}"/>
                </a:ext>
              </a:extLst>
            </p:cNvPr>
            <p:cNvSpPr txBox="1"/>
            <p:nvPr/>
          </p:nvSpPr>
          <p:spPr>
            <a:xfrm>
              <a:off x="3226678" y="1552915"/>
              <a:ext cx="7238999" cy="1792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Ötletek és igények felmérése.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Weboldal felépítése és munkakörök felosztása.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Rugalmas, bővíthető adatbázis.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 és Backend összehangolása, tervezése.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Tesztelés, megbeszélés, hibakezelés.</a:t>
              </a:r>
            </a:p>
          </p:txBody>
        </p:sp>
      </p:grpSp>
      <p:pic>
        <p:nvPicPr>
          <p:cNvPr id="7" name="Ábra 6" descr="Telitalálat egyszínű kitöltéssel">
            <a:extLst>
              <a:ext uri="{FF2B5EF4-FFF2-40B4-BE49-F238E27FC236}">
                <a16:creationId xmlns:a16="http://schemas.microsoft.com/office/drawing/2014/main" id="{A4EF45BB-3F12-9FC4-9BC6-56D4E3A00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59805" y="190500"/>
            <a:ext cx="914400" cy="914400"/>
          </a:xfrm>
          <a:prstGeom prst="rect">
            <a:avLst/>
          </a:prstGeom>
        </p:spPr>
      </p:pic>
      <p:pic>
        <p:nvPicPr>
          <p:cNvPr id="9" name="Ábra 8" descr="Villám egyszínű kitöltéssel">
            <a:extLst>
              <a:ext uri="{FF2B5EF4-FFF2-40B4-BE49-F238E27FC236}">
                <a16:creationId xmlns:a16="http://schemas.microsoft.com/office/drawing/2014/main" id="{9F93DA68-ABA4-CE34-2056-9A95D3F80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33928" y="1516396"/>
            <a:ext cx="914400" cy="914400"/>
          </a:xfrm>
          <a:prstGeom prst="rect">
            <a:avLst/>
          </a:prstGeom>
        </p:spPr>
      </p:pic>
      <p:grpSp>
        <p:nvGrpSpPr>
          <p:cNvPr id="13" name="Csoportba foglalás 12">
            <a:extLst>
              <a:ext uri="{FF2B5EF4-FFF2-40B4-BE49-F238E27FC236}">
                <a16:creationId xmlns:a16="http://schemas.microsoft.com/office/drawing/2014/main" id="{CF7FC81C-D1CC-9ABB-9873-D13A3918CF80}"/>
              </a:ext>
            </a:extLst>
          </p:cNvPr>
          <p:cNvGrpSpPr/>
          <p:nvPr/>
        </p:nvGrpSpPr>
        <p:grpSpPr>
          <a:xfrm>
            <a:off x="509195" y="2785668"/>
            <a:ext cx="1370646" cy="1370646"/>
            <a:chOff x="-2330451" y="2426177"/>
            <a:chExt cx="1370646" cy="1370646"/>
          </a:xfrm>
          <a:solidFill>
            <a:schemeClr val="bg1"/>
          </a:solidFill>
        </p:grpSpPr>
        <p:pic>
          <p:nvPicPr>
            <p:cNvPr id="14" name="Ábra 13" descr="Kör nyíllal egyszínű kitöltéssel">
              <a:extLst>
                <a:ext uri="{FF2B5EF4-FFF2-40B4-BE49-F238E27FC236}">
                  <a16:creationId xmlns:a16="http://schemas.microsoft.com/office/drawing/2014/main" id="{A323E10F-8A5C-EC6B-218D-257CA87BFD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15" name="Ábra 14" descr="Villanykörte és fogaskerék egyszínű kitöltéssel">
              <a:extLst>
                <a:ext uri="{FF2B5EF4-FFF2-40B4-BE49-F238E27FC236}">
                  <a16:creationId xmlns:a16="http://schemas.microsoft.com/office/drawing/2014/main" id="{89ECE8FB-FFD2-BD03-AF0E-770E3512C4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19" name="Ábra 18" descr="Adatbázis egyszínű kitöltéssel">
            <a:extLst>
              <a:ext uri="{FF2B5EF4-FFF2-40B4-BE49-F238E27FC236}">
                <a16:creationId xmlns:a16="http://schemas.microsoft.com/office/drawing/2014/main" id="{8DB2609F-81DB-2674-60EE-246B5D933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03619" y="3771720"/>
            <a:ext cx="914400" cy="914400"/>
          </a:xfrm>
          <a:prstGeom prst="rect">
            <a:avLst/>
          </a:prstGeom>
        </p:spPr>
      </p:pic>
      <p:pic>
        <p:nvPicPr>
          <p:cNvPr id="21" name="Ábra 20" descr="Dokumentum egyszínű kitöltéssel">
            <a:extLst>
              <a:ext uri="{FF2B5EF4-FFF2-40B4-BE49-F238E27FC236}">
                <a16:creationId xmlns:a16="http://schemas.microsoft.com/office/drawing/2014/main" id="{51BD9A03-2458-3F83-65CF-53C2E5157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55369" y="5937550"/>
            <a:ext cx="914400" cy="914400"/>
          </a:xfrm>
          <a:prstGeom prst="rect">
            <a:avLst/>
          </a:prstGeom>
        </p:spPr>
      </p:pic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CD1E757B-DBD5-5F58-1431-9C82EF3F7310}"/>
              </a:ext>
            </a:extLst>
          </p:cNvPr>
          <p:cNvGrpSpPr/>
          <p:nvPr/>
        </p:nvGrpSpPr>
        <p:grpSpPr>
          <a:xfrm>
            <a:off x="6881891" y="1526033"/>
            <a:ext cx="4832589" cy="3899851"/>
            <a:chOff x="5633885" y="3822612"/>
            <a:chExt cx="5953622" cy="2933788"/>
          </a:xfrm>
        </p:grpSpPr>
        <p:sp>
          <p:nvSpPr>
            <p:cNvPr id="5" name="Téglalap: szamárfül 4">
              <a:extLst>
                <a:ext uri="{FF2B5EF4-FFF2-40B4-BE49-F238E27FC236}">
                  <a16:creationId xmlns:a16="http://schemas.microsoft.com/office/drawing/2014/main" id="{F178414B-5BC6-1A12-427E-7DED96D3D1D9}"/>
                </a:ext>
              </a:extLst>
            </p:cNvPr>
            <p:cNvSpPr/>
            <p:nvPr/>
          </p:nvSpPr>
          <p:spPr>
            <a:xfrm>
              <a:off x="5633885" y="3822612"/>
              <a:ext cx="5953622" cy="2933788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Szövegdoboz 34">
              <a:extLst>
                <a:ext uri="{FF2B5EF4-FFF2-40B4-BE49-F238E27FC236}">
                  <a16:creationId xmlns:a16="http://schemas.microsoft.com/office/drawing/2014/main" id="{69E3432D-F737-FCD3-E228-CD5B04D61F4A}"/>
                </a:ext>
              </a:extLst>
            </p:cNvPr>
            <p:cNvSpPr txBox="1"/>
            <p:nvPr/>
          </p:nvSpPr>
          <p:spPr>
            <a:xfrm>
              <a:off x="5723282" y="4049860"/>
              <a:ext cx="5544158" cy="2188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263525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Dizájn:</a:t>
              </a:r>
            </a:p>
            <a:p>
              <a:pPr marL="742950" lvl="2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Választható sötét és világos téma.</a:t>
              </a:r>
            </a:p>
            <a:p>
              <a:pPr marL="742950" lvl="1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Könnyen navigálható, rugalmas és modern.</a:t>
              </a:r>
            </a:p>
            <a:p>
              <a:pPr marL="742950" lvl="1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Elérhető okostelefonon, tableten és asztali számítógépen is.</a:t>
              </a:r>
            </a:p>
          </p:txBody>
        </p:sp>
      </p:grp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C7B8C31D-615D-5B60-2116-C8A527B5F67A}"/>
              </a:ext>
            </a:extLst>
          </p:cNvPr>
          <p:cNvGrpSpPr/>
          <p:nvPr/>
        </p:nvGrpSpPr>
        <p:grpSpPr>
          <a:xfrm>
            <a:off x="2306386" y="400225"/>
            <a:ext cx="9042334" cy="779721"/>
            <a:chOff x="2497375" y="326477"/>
            <a:chExt cx="9042334" cy="779721"/>
          </a:xfrm>
        </p:grpSpPr>
        <p:sp>
          <p:nvSpPr>
            <p:cNvPr id="26" name="Téglalap: lekerekített 25">
              <a:extLst>
                <a:ext uri="{FF2B5EF4-FFF2-40B4-BE49-F238E27FC236}">
                  <a16:creationId xmlns:a16="http://schemas.microsoft.com/office/drawing/2014/main" id="{B4BC172C-8B6F-DFA5-8B89-954D86EF138C}"/>
                </a:ext>
              </a:extLst>
            </p:cNvPr>
            <p:cNvSpPr/>
            <p:nvPr/>
          </p:nvSpPr>
          <p:spPr>
            <a:xfrm>
              <a:off x="2497375" y="326477"/>
              <a:ext cx="9042334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455A02A1-48D5-31D2-713F-2BA6E7A7DB17}"/>
                </a:ext>
              </a:extLst>
            </p:cNvPr>
            <p:cNvSpPr txBox="1"/>
            <p:nvPr/>
          </p:nvSpPr>
          <p:spPr>
            <a:xfrm>
              <a:off x="2900830" y="342900"/>
              <a:ext cx="83701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fejlesztés menete és megjelenése</a:t>
              </a:r>
            </a:p>
          </p:txBody>
        </p:sp>
      </p:grpSp>
      <p:pic>
        <p:nvPicPr>
          <p:cNvPr id="55" name="Ábra 54" descr="Telitalálat egyszínű kitöltéssel">
            <a:hlinkClick r:id="rId9" action="ppaction://hlinksldjump"/>
            <a:extLst>
              <a:ext uri="{FF2B5EF4-FFF2-40B4-BE49-F238E27FC236}">
                <a16:creationId xmlns:a16="http://schemas.microsoft.com/office/drawing/2014/main" id="{F8DB84C0-9CB7-7E08-2F35-0EF3349985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548" y="614865"/>
            <a:ext cx="914400" cy="914400"/>
          </a:xfrm>
          <a:prstGeom prst="rect">
            <a:avLst/>
          </a:prstGeom>
        </p:spPr>
      </p:pic>
      <p:pic>
        <p:nvPicPr>
          <p:cNvPr id="56" name="Ábra 55" descr="Villám egyszínű kitöltéssel">
            <a:hlinkClick r:id="rId11" action="ppaction://hlinksldjump"/>
            <a:extLst>
              <a:ext uri="{FF2B5EF4-FFF2-40B4-BE49-F238E27FC236}">
                <a16:creationId xmlns:a16="http://schemas.microsoft.com/office/drawing/2014/main" id="{56D6F7BE-998D-109F-B9B7-6AA582826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4349" y="1835111"/>
            <a:ext cx="914400" cy="914400"/>
          </a:xfrm>
          <a:prstGeom prst="rect">
            <a:avLst/>
          </a:prstGeom>
        </p:spPr>
      </p:pic>
      <p:pic>
        <p:nvPicPr>
          <p:cNvPr id="60" name="Ábra 59" descr="Dokumentum egyszínű kitöltéssel">
            <a:hlinkClick r:id="rId13" action="ppaction://hlinksldjump"/>
            <a:extLst>
              <a:ext uri="{FF2B5EF4-FFF2-40B4-BE49-F238E27FC236}">
                <a16:creationId xmlns:a16="http://schemas.microsoft.com/office/drawing/2014/main" id="{8AEEE793-725D-7393-2D06-3C28571670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4349" y="5507128"/>
            <a:ext cx="914400" cy="914400"/>
          </a:xfrm>
          <a:prstGeom prst="rect">
            <a:avLst/>
          </a:prstGeom>
        </p:spPr>
      </p:pic>
      <p:pic>
        <p:nvPicPr>
          <p:cNvPr id="61" name="Ábra 60" descr="Adatbázis egyszínű kitöltéssel">
            <a:hlinkClick r:id="rId15" action="ppaction://hlinksldjump"/>
            <a:extLst>
              <a:ext uri="{FF2B5EF4-FFF2-40B4-BE49-F238E27FC236}">
                <a16:creationId xmlns:a16="http://schemas.microsoft.com/office/drawing/2014/main" id="{DE4F6C1C-2625-145F-FE56-B983EBEBB2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7718" y="4238084"/>
            <a:ext cx="914400" cy="914400"/>
          </a:xfrm>
          <a:prstGeom prst="rect">
            <a:avLst/>
          </a:prstGeom>
        </p:spPr>
      </p:pic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F8202430-F58F-CCA6-A50A-F083B7C10FB4}"/>
              </a:ext>
            </a:extLst>
          </p:cNvPr>
          <p:cNvGrpSpPr/>
          <p:nvPr/>
        </p:nvGrpSpPr>
        <p:grpSpPr>
          <a:xfrm>
            <a:off x="6805796" y="8587805"/>
            <a:ext cx="5028818" cy="4906832"/>
            <a:chOff x="3455862" y="719799"/>
            <a:chExt cx="7285776" cy="6976664"/>
          </a:xfrm>
        </p:grpSpPr>
        <p:sp>
          <p:nvSpPr>
            <p:cNvPr id="17" name="Téglalap: szamárfül 16">
              <a:extLst>
                <a:ext uri="{FF2B5EF4-FFF2-40B4-BE49-F238E27FC236}">
                  <a16:creationId xmlns:a16="http://schemas.microsoft.com/office/drawing/2014/main" id="{990D4F5B-7FF9-8EE8-0DA6-326FF1E9A5F9}"/>
                </a:ext>
              </a:extLst>
            </p:cNvPr>
            <p:cNvSpPr/>
            <p:nvPr/>
          </p:nvSpPr>
          <p:spPr>
            <a:xfrm>
              <a:off x="3455862" y="719799"/>
              <a:ext cx="7285776" cy="6976664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8" name="Szövegdoboz 17">
              <a:extLst>
                <a:ext uri="{FF2B5EF4-FFF2-40B4-BE49-F238E27FC236}">
                  <a16:creationId xmlns:a16="http://schemas.microsoft.com/office/drawing/2014/main" id="{D1906F17-C041-5D87-BAC4-2C058D8F8869}"/>
                </a:ext>
              </a:extLst>
            </p:cNvPr>
            <p:cNvSpPr txBox="1"/>
            <p:nvPr/>
          </p:nvSpPr>
          <p:spPr>
            <a:xfrm>
              <a:off x="3763396" y="1061475"/>
              <a:ext cx="6356328" cy="62504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Regisztráció és bejelentkezés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40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Oldalhoz való csatlakozást és belépést lehetővé tettük.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Fiók szerkesztés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40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Általános adatokat és profilképet változtathatnak a felhasználók.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3525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Hibajelentés és segítségkérés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  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3525" algn="l"/>
                  <a:tab pos="630238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Bejelenteni kívánt hibákat vagy problémákat jelezhetik a csapatnak.</a:t>
              </a:r>
            </a:p>
          </p:txBody>
        </p:sp>
      </p:grpSp>
      <p:grpSp>
        <p:nvGrpSpPr>
          <p:cNvPr id="20" name="Csoportba foglalás 19">
            <a:extLst>
              <a:ext uri="{FF2B5EF4-FFF2-40B4-BE49-F238E27FC236}">
                <a16:creationId xmlns:a16="http://schemas.microsoft.com/office/drawing/2014/main" id="{8D9F6C2A-B681-99FA-563A-F45ACA422D82}"/>
              </a:ext>
            </a:extLst>
          </p:cNvPr>
          <p:cNvGrpSpPr/>
          <p:nvPr/>
        </p:nvGrpSpPr>
        <p:grpSpPr>
          <a:xfrm>
            <a:off x="2641667" y="7453004"/>
            <a:ext cx="7785100" cy="779721"/>
            <a:chOff x="2497376" y="326477"/>
            <a:chExt cx="7785100" cy="779721"/>
          </a:xfrm>
        </p:grpSpPr>
        <p:sp>
          <p:nvSpPr>
            <p:cNvPr id="22" name="Téglalap: lekerekített 21">
              <a:extLst>
                <a:ext uri="{FF2B5EF4-FFF2-40B4-BE49-F238E27FC236}">
                  <a16:creationId xmlns:a16="http://schemas.microsoft.com/office/drawing/2014/main" id="{F07AF8B7-439C-4888-A7B0-C8AB163F554F}"/>
                </a:ext>
              </a:extLst>
            </p:cNvPr>
            <p:cNvSpPr/>
            <p:nvPr/>
          </p:nvSpPr>
          <p:spPr>
            <a:xfrm>
              <a:off x="2497376" y="326477"/>
              <a:ext cx="7785100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" name="Szövegdoboz 23">
              <a:extLst>
                <a:ext uri="{FF2B5EF4-FFF2-40B4-BE49-F238E27FC236}">
                  <a16:creationId xmlns:a16="http://schemas.microsoft.com/office/drawing/2014/main" id="{9E0EA252-AED5-8334-2213-AA55E6D92A46}"/>
                </a:ext>
              </a:extLst>
            </p:cNvPr>
            <p:cNvSpPr txBox="1"/>
            <p:nvPr/>
          </p:nvSpPr>
          <p:spPr>
            <a:xfrm>
              <a:off x="3409783" y="359236"/>
              <a:ext cx="5973110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Funkciók és algoritmusok</a:t>
              </a:r>
            </a:p>
          </p:txBody>
        </p:sp>
      </p:grpSp>
      <p:pic>
        <p:nvPicPr>
          <p:cNvPr id="25" name="Kép 24">
            <a:extLst>
              <a:ext uri="{FF2B5EF4-FFF2-40B4-BE49-F238E27FC236}">
                <a16:creationId xmlns:a16="http://schemas.microsoft.com/office/drawing/2014/main" id="{370BD2FE-CB51-6B70-58D5-18601F6B430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69" y="-5460966"/>
            <a:ext cx="7245168" cy="5154478"/>
          </a:xfrm>
          <a:prstGeom prst="rect">
            <a:avLst/>
          </a:prstGeom>
        </p:spPr>
      </p:pic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90ADEF2E-F0CB-4B46-AE74-056163BB78A2}"/>
              </a:ext>
            </a:extLst>
          </p:cNvPr>
          <p:cNvGrpSpPr/>
          <p:nvPr/>
        </p:nvGrpSpPr>
        <p:grpSpPr>
          <a:xfrm>
            <a:off x="4621188" y="-6467935"/>
            <a:ext cx="4431371" cy="779721"/>
            <a:chOff x="4812177" y="326477"/>
            <a:chExt cx="4431371" cy="779721"/>
          </a:xfrm>
        </p:grpSpPr>
        <p:sp>
          <p:nvSpPr>
            <p:cNvPr id="32" name="Téglalap: lekerekített 31">
              <a:extLst>
                <a:ext uri="{FF2B5EF4-FFF2-40B4-BE49-F238E27FC236}">
                  <a16:creationId xmlns:a16="http://schemas.microsoft.com/office/drawing/2014/main" id="{0DADDD6B-4857-0820-ABDA-45FD8BD496BD}"/>
                </a:ext>
              </a:extLst>
            </p:cNvPr>
            <p:cNvSpPr/>
            <p:nvPr/>
          </p:nvSpPr>
          <p:spPr>
            <a:xfrm>
              <a:off x="4812177" y="326477"/>
              <a:ext cx="4431371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" name="Szövegdoboz 32">
              <a:extLst>
                <a:ext uri="{FF2B5EF4-FFF2-40B4-BE49-F238E27FC236}">
                  <a16:creationId xmlns:a16="http://schemas.microsoft.com/office/drawing/2014/main" id="{FE71554C-295E-92E5-D0D4-E1833DA06D00}"/>
                </a:ext>
              </a:extLst>
            </p:cNvPr>
            <p:cNvSpPr txBox="1"/>
            <p:nvPr/>
          </p:nvSpPr>
          <p:spPr>
            <a:xfrm>
              <a:off x="5792161" y="362394"/>
              <a:ext cx="24384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Adatbázis</a:t>
              </a:r>
            </a:p>
          </p:txBody>
        </p:sp>
      </p:grpSp>
      <p:grpSp>
        <p:nvGrpSpPr>
          <p:cNvPr id="28" name="Csoportba foglalás 27">
            <a:extLst>
              <a:ext uri="{FF2B5EF4-FFF2-40B4-BE49-F238E27FC236}">
                <a16:creationId xmlns:a16="http://schemas.microsoft.com/office/drawing/2014/main" id="{FDCB3FEB-CEA4-A416-D0C1-62E2EDD341F4}"/>
              </a:ext>
            </a:extLst>
          </p:cNvPr>
          <p:cNvGrpSpPr/>
          <p:nvPr/>
        </p:nvGrpSpPr>
        <p:grpSpPr>
          <a:xfrm>
            <a:off x="1635761" y="8596029"/>
            <a:ext cx="5028819" cy="4939591"/>
            <a:chOff x="3455862" y="719798"/>
            <a:chExt cx="7285776" cy="7023241"/>
          </a:xfrm>
        </p:grpSpPr>
        <p:sp>
          <p:nvSpPr>
            <p:cNvPr id="29" name="Téglalap: szamárfül 28">
              <a:extLst>
                <a:ext uri="{FF2B5EF4-FFF2-40B4-BE49-F238E27FC236}">
                  <a16:creationId xmlns:a16="http://schemas.microsoft.com/office/drawing/2014/main" id="{FC6C9EDD-C32F-6F4E-B096-EB5B5170DB87}"/>
                </a:ext>
              </a:extLst>
            </p:cNvPr>
            <p:cNvSpPr/>
            <p:nvPr/>
          </p:nvSpPr>
          <p:spPr>
            <a:xfrm>
              <a:off x="3455862" y="719798"/>
              <a:ext cx="7285776" cy="7023241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020D23E0-764B-FA82-44C3-83B8FC886EE5}"/>
                </a:ext>
              </a:extLst>
            </p:cNvPr>
            <p:cNvSpPr txBox="1"/>
            <p:nvPr/>
          </p:nvSpPr>
          <p:spPr>
            <a:xfrm>
              <a:off x="3773241" y="1050174"/>
              <a:ext cx="6356329" cy="5987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Munka feltöltés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szakembereket kereső személyek hirdethetik azt a munkát melyben segítség kell.</a:t>
              </a:r>
              <a:endParaRPr lang="hu-HU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Munka keresés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felhasználók egyszerűen megtalálhatják a számukra megfelelő munkát.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  <a:tabLst>
                  <a:tab pos="266700" algn="l"/>
                  <a:tab pos="538163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Jelentkezés</a:t>
              </a: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</a:p>
            <a:p>
              <a:pPr marL="742950" lvl="1" indent="-285750">
                <a:spcAft>
                  <a:spcPts val="2200"/>
                </a:spcAft>
                <a:buFont typeface="Arial" panose="020B0604020202020204" pitchFamily="34" charset="0"/>
                <a:buChar char="-"/>
                <a:tabLst>
                  <a:tab pos="266700" algn="l"/>
                  <a:tab pos="538163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Megtekinthetik az általuk már regisztrált feladatra, meggondolás esetén lemondható.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6004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FC1B4-AC65-2D05-3A00-A20690290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églalap 60">
            <a:extLst>
              <a:ext uri="{FF2B5EF4-FFF2-40B4-BE49-F238E27FC236}">
                <a16:creationId xmlns:a16="http://schemas.microsoft.com/office/drawing/2014/main" id="{B2FCF617-4D0E-A28E-0251-1C2224B37E26}"/>
              </a:ext>
            </a:extLst>
          </p:cNvPr>
          <p:cNvSpPr/>
          <p:nvPr/>
        </p:nvSpPr>
        <p:spPr>
          <a:xfrm>
            <a:off x="0" y="0"/>
            <a:ext cx="12191640" cy="6858000"/>
          </a:xfrm>
          <a:prstGeom prst="rect">
            <a:avLst/>
          </a:prstGeom>
          <a:gradFill>
            <a:gsLst>
              <a:gs pos="74000">
                <a:srgbClr val="9140BE"/>
              </a:gs>
              <a:gs pos="87000">
                <a:srgbClr val="743498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39" name="Kép 38">
            <a:extLst>
              <a:ext uri="{FF2B5EF4-FFF2-40B4-BE49-F238E27FC236}">
                <a16:creationId xmlns:a16="http://schemas.microsoft.com/office/drawing/2014/main" id="{59FC68CE-149D-3D71-0755-8C4F28CB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69" y="1407194"/>
            <a:ext cx="7245168" cy="5154478"/>
          </a:xfrm>
          <a:prstGeom prst="rect">
            <a:avLst/>
          </a:prstGeom>
        </p:spPr>
      </p:pic>
      <p:sp>
        <p:nvSpPr>
          <p:cNvPr id="26" name="Szabadkézi sokszög: alakzat 25">
            <a:extLst>
              <a:ext uri="{FF2B5EF4-FFF2-40B4-BE49-F238E27FC236}">
                <a16:creationId xmlns:a16="http://schemas.microsoft.com/office/drawing/2014/main" id="{7324A86F-DB7E-EDD2-FB4E-63B710C6F609}"/>
              </a:ext>
            </a:extLst>
          </p:cNvPr>
          <p:cNvSpPr/>
          <p:nvPr/>
        </p:nvSpPr>
        <p:spPr>
          <a:xfrm>
            <a:off x="-8264" y="-5922271"/>
            <a:ext cx="1236896" cy="21165363"/>
          </a:xfrm>
          <a:custGeom>
            <a:avLst/>
            <a:gdLst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7" fmla="*/ 1230945 w 1230945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83691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31487"/>
              <a:gd name="csY0" fmla="*/ 0 h 21165363"/>
              <a:gd name="csX1" fmla="*/ 1230945 w 1231487"/>
              <a:gd name="csY1" fmla="*/ 9483691 h 21165363"/>
              <a:gd name="csX2" fmla="*/ 579101 w 1231487"/>
              <a:gd name="csY2" fmla="*/ 10629579 h 21165363"/>
              <a:gd name="csX3" fmla="*/ 1230945 w 1231487"/>
              <a:gd name="csY3" fmla="*/ 11741211 h 21165363"/>
              <a:gd name="csX4" fmla="*/ 1230945 w 1231487"/>
              <a:gd name="csY4" fmla="*/ 21165363 h 21165363"/>
              <a:gd name="csX5" fmla="*/ 0 w 1231487"/>
              <a:gd name="csY5" fmla="*/ 21165363 h 21165363"/>
              <a:gd name="csX6" fmla="*/ 0 w 1231487"/>
              <a:gd name="csY6" fmla="*/ 0 h 21165363"/>
              <a:gd name="csX7" fmla="*/ 1230945 w 1231487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6896" h="21165363">
                <a:moveTo>
                  <a:pt x="1230945" y="0"/>
                </a:moveTo>
                <a:cubicBezTo>
                  <a:pt x="1230945" y="3158848"/>
                  <a:pt x="1244335" y="8705073"/>
                  <a:pt x="1230945" y="9483691"/>
                </a:cubicBezTo>
                <a:cubicBezTo>
                  <a:pt x="1217555" y="10262309"/>
                  <a:pt x="579101" y="10253326"/>
                  <a:pt x="579101" y="10629579"/>
                </a:cubicBezTo>
                <a:cubicBezTo>
                  <a:pt x="579101" y="11005832"/>
                  <a:pt x="1234223" y="10971091"/>
                  <a:pt x="1230945" y="11741211"/>
                </a:cubicBezTo>
                <a:cubicBezTo>
                  <a:pt x="1227667" y="12511331"/>
                  <a:pt x="1230945" y="18023979"/>
                  <a:pt x="1230945" y="21165363"/>
                </a:cubicBezTo>
                <a:lnTo>
                  <a:pt x="0" y="21165363"/>
                </a:lnTo>
                <a:lnTo>
                  <a:pt x="0" y="0"/>
                </a:lnTo>
                <a:lnTo>
                  <a:pt x="1230945" y="0"/>
                </a:lnTo>
                <a:close/>
              </a:path>
            </a:pathLst>
          </a:custGeom>
          <a:solidFill>
            <a:srgbClr val="7B3D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/>
          </a:p>
        </p:txBody>
      </p:sp>
      <p:pic>
        <p:nvPicPr>
          <p:cNvPr id="7" name="Ábra 6" descr="Telitalálat egyszínű kitöltéssel">
            <a:extLst>
              <a:ext uri="{FF2B5EF4-FFF2-40B4-BE49-F238E27FC236}">
                <a16:creationId xmlns:a16="http://schemas.microsoft.com/office/drawing/2014/main" id="{833BC3B7-ACAC-9C2A-41DA-593E26AF8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59805" y="190500"/>
            <a:ext cx="914400" cy="914400"/>
          </a:xfrm>
          <a:prstGeom prst="rect">
            <a:avLst/>
          </a:prstGeom>
        </p:spPr>
      </p:pic>
      <p:pic>
        <p:nvPicPr>
          <p:cNvPr id="9" name="Ábra 8" descr="Villám egyszínű kitöltéssel">
            <a:extLst>
              <a:ext uri="{FF2B5EF4-FFF2-40B4-BE49-F238E27FC236}">
                <a16:creationId xmlns:a16="http://schemas.microsoft.com/office/drawing/2014/main" id="{49945D21-14F2-CFD0-C351-7C8883382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33928" y="1516396"/>
            <a:ext cx="914400" cy="914400"/>
          </a:xfrm>
          <a:prstGeom prst="rect">
            <a:avLst/>
          </a:prstGeom>
        </p:spPr>
      </p:pic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7899164C-B5DE-B3CF-E800-7ABE12642924}"/>
              </a:ext>
            </a:extLst>
          </p:cNvPr>
          <p:cNvGrpSpPr/>
          <p:nvPr/>
        </p:nvGrpSpPr>
        <p:grpSpPr>
          <a:xfrm>
            <a:off x="-1529875" y="2514600"/>
            <a:ext cx="1370646" cy="1370646"/>
            <a:chOff x="-2330451" y="2426177"/>
            <a:chExt cx="1370646" cy="1370646"/>
          </a:xfrm>
          <a:solidFill>
            <a:schemeClr val="bg1"/>
          </a:solidFill>
        </p:grpSpPr>
        <p:pic>
          <p:nvPicPr>
            <p:cNvPr id="17" name="Ábra 16" descr="Kör nyíllal egyszínű kitöltéssel">
              <a:extLst>
                <a:ext uri="{FF2B5EF4-FFF2-40B4-BE49-F238E27FC236}">
                  <a16:creationId xmlns:a16="http://schemas.microsoft.com/office/drawing/2014/main" id="{AB50E124-BB82-5CA7-D823-212385D648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18" name="Ábra 17" descr="Villanykörte és fogaskerék egyszínű kitöltéssel">
              <a:extLst>
                <a:ext uri="{FF2B5EF4-FFF2-40B4-BE49-F238E27FC236}">
                  <a16:creationId xmlns:a16="http://schemas.microsoft.com/office/drawing/2014/main" id="{4657D1BC-ACB5-CE02-FE92-8CF0CD693A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22" name="Ábra 21" descr="Adatbázis egyszínű kitöltéssel">
            <a:extLst>
              <a:ext uri="{FF2B5EF4-FFF2-40B4-BE49-F238E27FC236}">
                <a16:creationId xmlns:a16="http://schemas.microsoft.com/office/drawing/2014/main" id="{DF52C129-78B3-D276-4EBC-7F045BB71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334" y="4221181"/>
            <a:ext cx="914400" cy="914400"/>
          </a:xfrm>
          <a:prstGeom prst="rect">
            <a:avLst/>
          </a:prstGeom>
        </p:spPr>
      </p:pic>
      <p:pic>
        <p:nvPicPr>
          <p:cNvPr id="24" name="Ábra 23" descr="Dokumentum egyszínű kitöltéssel">
            <a:extLst>
              <a:ext uri="{FF2B5EF4-FFF2-40B4-BE49-F238E27FC236}">
                <a16:creationId xmlns:a16="http://schemas.microsoft.com/office/drawing/2014/main" id="{D43E7D1D-F1FC-C474-FAE1-CE5BAA485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955369" y="5937550"/>
            <a:ext cx="914400" cy="914400"/>
          </a:xfrm>
          <a:prstGeom prst="rect">
            <a:avLst/>
          </a:prstGeom>
        </p:spPr>
      </p:pic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4B4E0D01-6408-A0AF-47D2-FD453E0A740B}"/>
              </a:ext>
            </a:extLst>
          </p:cNvPr>
          <p:cNvGrpSpPr/>
          <p:nvPr/>
        </p:nvGrpSpPr>
        <p:grpSpPr>
          <a:xfrm>
            <a:off x="4621188" y="400225"/>
            <a:ext cx="4431371" cy="779721"/>
            <a:chOff x="4812177" y="326477"/>
            <a:chExt cx="4431371" cy="779721"/>
          </a:xfrm>
        </p:grpSpPr>
        <p:sp>
          <p:nvSpPr>
            <p:cNvPr id="32" name="Téglalap: lekerekített 31">
              <a:extLst>
                <a:ext uri="{FF2B5EF4-FFF2-40B4-BE49-F238E27FC236}">
                  <a16:creationId xmlns:a16="http://schemas.microsoft.com/office/drawing/2014/main" id="{104F1C17-31BD-8D1C-8C95-066C32B7B3B9}"/>
                </a:ext>
              </a:extLst>
            </p:cNvPr>
            <p:cNvSpPr/>
            <p:nvPr/>
          </p:nvSpPr>
          <p:spPr>
            <a:xfrm>
              <a:off x="4812177" y="326477"/>
              <a:ext cx="4431371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Szövegdoboz 34">
              <a:extLst>
                <a:ext uri="{FF2B5EF4-FFF2-40B4-BE49-F238E27FC236}">
                  <a16:creationId xmlns:a16="http://schemas.microsoft.com/office/drawing/2014/main" id="{E39C7E75-49D1-E9EF-524B-53340D646B4B}"/>
                </a:ext>
              </a:extLst>
            </p:cNvPr>
            <p:cNvSpPr txBox="1"/>
            <p:nvPr/>
          </p:nvSpPr>
          <p:spPr>
            <a:xfrm>
              <a:off x="5792161" y="362394"/>
              <a:ext cx="24384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Adatbázis</a:t>
              </a:r>
            </a:p>
          </p:txBody>
        </p:sp>
      </p:grp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04A012E4-D967-F07E-580F-85B36A8F9FC6}"/>
              </a:ext>
            </a:extLst>
          </p:cNvPr>
          <p:cNvGrpSpPr/>
          <p:nvPr/>
        </p:nvGrpSpPr>
        <p:grpSpPr>
          <a:xfrm>
            <a:off x="2011747" y="8349600"/>
            <a:ext cx="4424582" cy="3899849"/>
            <a:chOff x="3175069" y="1369826"/>
            <a:chExt cx="7290608" cy="2096668"/>
          </a:xfrm>
        </p:grpSpPr>
        <p:sp>
          <p:nvSpPr>
            <p:cNvPr id="48" name="Téglalap: szamárfül 47">
              <a:extLst>
                <a:ext uri="{FF2B5EF4-FFF2-40B4-BE49-F238E27FC236}">
                  <a16:creationId xmlns:a16="http://schemas.microsoft.com/office/drawing/2014/main" id="{0E2C270A-4FBA-BA68-228B-06883816F14F}"/>
                </a:ext>
              </a:extLst>
            </p:cNvPr>
            <p:cNvSpPr/>
            <p:nvPr/>
          </p:nvSpPr>
          <p:spPr>
            <a:xfrm>
              <a:off x="3175069" y="1369826"/>
              <a:ext cx="7290608" cy="2096668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9" name="Szövegdoboz 48">
              <a:extLst>
                <a:ext uri="{FF2B5EF4-FFF2-40B4-BE49-F238E27FC236}">
                  <a16:creationId xmlns:a16="http://schemas.microsoft.com/office/drawing/2014/main" id="{9146277B-DF30-EB12-4925-DF13C54DFFC7}"/>
                </a:ext>
              </a:extLst>
            </p:cNvPr>
            <p:cNvSpPr txBox="1"/>
            <p:nvPr/>
          </p:nvSpPr>
          <p:spPr>
            <a:xfrm>
              <a:off x="3226678" y="1552915"/>
              <a:ext cx="7238999" cy="17925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</a:rPr>
                <a:t>Ötletek és igények felmérése.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</a:rPr>
                <a:t>Weboldal felépítése és munkakörök felosztása.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</a:rPr>
                <a:t>Rugalmas, bővíthető adatbázis.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</a:rPr>
                <a:t>Frontend és Backend összehangolása, tervezése.</a:t>
              </a:r>
            </a:p>
            <a:p>
              <a:pPr marL="538163" indent="-285750">
                <a:spcAft>
                  <a:spcPts val="2000"/>
                </a:spcAft>
                <a:buFontTx/>
                <a:buChar char="-"/>
              </a:pPr>
              <a:r>
                <a:rPr lang="hu-HU" dirty="0">
                  <a:solidFill>
                    <a:schemeClr val="bg1"/>
                  </a:solidFill>
                </a:rPr>
                <a:t>Tesztelés, megbeszélés, hibakezelés.</a:t>
              </a:r>
            </a:p>
          </p:txBody>
        </p:sp>
      </p:grpSp>
      <p:grpSp>
        <p:nvGrpSpPr>
          <p:cNvPr id="50" name="Csoportba foglalás 49">
            <a:extLst>
              <a:ext uri="{FF2B5EF4-FFF2-40B4-BE49-F238E27FC236}">
                <a16:creationId xmlns:a16="http://schemas.microsoft.com/office/drawing/2014/main" id="{39FB5C04-9F55-2117-2312-8641BFFE5F04}"/>
              </a:ext>
            </a:extLst>
          </p:cNvPr>
          <p:cNvGrpSpPr/>
          <p:nvPr/>
        </p:nvGrpSpPr>
        <p:grpSpPr>
          <a:xfrm>
            <a:off x="6881891" y="8333233"/>
            <a:ext cx="4832589" cy="3899851"/>
            <a:chOff x="5633885" y="3822612"/>
            <a:chExt cx="5953622" cy="2933788"/>
          </a:xfrm>
        </p:grpSpPr>
        <p:sp>
          <p:nvSpPr>
            <p:cNvPr id="51" name="Téglalap: szamárfül 50">
              <a:extLst>
                <a:ext uri="{FF2B5EF4-FFF2-40B4-BE49-F238E27FC236}">
                  <a16:creationId xmlns:a16="http://schemas.microsoft.com/office/drawing/2014/main" id="{F1DFE209-4462-F20C-3C6F-625E01F53CA1}"/>
                </a:ext>
              </a:extLst>
            </p:cNvPr>
            <p:cNvSpPr/>
            <p:nvPr/>
          </p:nvSpPr>
          <p:spPr>
            <a:xfrm>
              <a:off x="5633885" y="3822612"/>
              <a:ext cx="5953622" cy="2933788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2" name="Szövegdoboz 51">
              <a:extLst>
                <a:ext uri="{FF2B5EF4-FFF2-40B4-BE49-F238E27FC236}">
                  <a16:creationId xmlns:a16="http://schemas.microsoft.com/office/drawing/2014/main" id="{CCB018F5-90F6-448E-F65F-920B218EC742}"/>
                </a:ext>
              </a:extLst>
            </p:cNvPr>
            <p:cNvSpPr txBox="1"/>
            <p:nvPr/>
          </p:nvSpPr>
          <p:spPr>
            <a:xfrm>
              <a:off x="5723282" y="4049860"/>
              <a:ext cx="5544158" cy="21880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263525" algn="l"/>
                </a:tabLst>
              </a:pP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Dizájn:</a:t>
              </a:r>
            </a:p>
            <a:p>
              <a:pPr marL="742950" lvl="2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Választható sötét és világos téma.</a:t>
              </a:r>
            </a:p>
            <a:p>
              <a:pPr marL="742950" lvl="1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Könnyen navigálható, rugalmas és modern.</a:t>
              </a:r>
            </a:p>
            <a:p>
              <a:pPr marL="742950" lvl="1" indent="-285750">
                <a:spcAft>
                  <a:spcPts val="4000"/>
                </a:spcAft>
                <a:buFontTx/>
                <a:buChar char="-"/>
                <a:tabLst>
                  <a:tab pos="263525" algn="l"/>
                </a:tabLs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Elérhető okostelefonon, tableten és asztali számítógépen is.</a:t>
              </a:r>
            </a:p>
          </p:txBody>
        </p:sp>
      </p:grpSp>
      <p:grpSp>
        <p:nvGrpSpPr>
          <p:cNvPr id="56" name="Csoportba foglalás 55">
            <a:extLst>
              <a:ext uri="{FF2B5EF4-FFF2-40B4-BE49-F238E27FC236}">
                <a16:creationId xmlns:a16="http://schemas.microsoft.com/office/drawing/2014/main" id="{5948D419-952D-5555-CCE6-D91E65EFBF2A}"/>
              </a:ext>
            </a:extLst>
          </p:cNvPr>
          <p:cNvGrpSpPr/>
          <p:nvPr/>
        </p:nvGrpSpPr>
        <p:grpSpPr>
          <a:xfrm>
            <a:off x="2306386" y="7220125"/>
            <a:ext cx="9042334" cy="779721"/>
            <a:chOff x="2497375" y="326477"/>
            <a:chExt cx="9042334" cy="779721"/>
          </a:xfrm>
        </p:grpSpPr>
        <p:sp>
          <p:nvSpPr>
            <p:cNvPr id="57" name="Téglalap: lekerekített 56">
              <a:extLst>
                <a:ext uri="{FF2B5EF4-FFF2-40B4-BE49-F238E27FC236}">
                  <a16:creationId xmlns:a16="http://schemas.microsoft.com/office/drawing/2014/main" id="{390DB816-1B6F-E1CB-36DA-7A8F0C36E468}"/>
                </a:ext>
              </a:extLst>
            </p:cNvPr>
            <p:cNvSpPr/>
            <p:nvPr/>
          </p:nvSpPr>
          <p:spPr>
            <a:xfrm>
              <a:off x="2497375" y="326477"/>
              <a:ext cx="9042334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58" name="Szövegdoboz 57">
              <a:extLst>
                <a:ext uri="{FF2B5EF4-FFF2-40B4-BE49-F238E27FC236}">
                  <a16:creationId xmlns:a16="http://schemas.microsoft.com/office/drawing/2014/main" id="{A2DC2EA0-A5FD-43D8-0437-54AEABF6F187}"/>
                </a:ext>
              </a:extLst>
            </p:cNvPr>
            <p:cNvSpPr txBox="1"/>
            <p:nvPr/>
          </p:nvSpPr>
          <p:spPr>
            <a:xfrm>
              <a:off x="2900830" y="342900"/>
              <a:ext cx="83701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fejlesztés menete és megjelenése</a:t>
              </a:r>
            </a:p>
          </p:txBody>
        </p:sp>
      </p:grpSp>
      <p:pic>
        <p:nvPicPr>
          <p:cNvPr id="36" name="Ábra 35" descr="Telitalálat egyszínű kitöltéssel">
            <a:hlinkClick r:id="rId10" action="ppaction://hlinksldjump"/>
            <a:extLst>
              <a:ext uri="{FF2B5EF4-FFF2-40B4-BE49-F238E27FC236}">
                <a16:creationId xmlns:a16="http://schemas.microsoft.com/office/drawing/2014/main" id="{30357E96-7497-9BE6-2BBE-C94655579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8548" y="614865"/>
            <a:ext cx="914400" cy="914400"/>
          </a:xfrm>
          <a:prstGeom prst="rect">
            <a:avLst/>
          </a:prstGeom>
        </p:spPr>
      </p:pic>
      <p:pic>
        <p:nvPicPr>
          <p:cNvPr id="38" name="Ábra 37" descr="Villám egyszínű kitöltéssel">
            <a:hlinkClick r:id="rId12" action="ppaction://hlinksldjump"/>
            <a:extLst>
              <a:ext uri="{FF2B5EF4-FFF2-40B4-BE49-F238E27FC236}">
                <a16:creationId xmlns:a16="http://schemas.microsoft.com/office/drawing/2014/main" id="{638D394D-4973-FC52-42FC-CE5579610E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4349" y="1835111"/>
            <a:ext cx="914400" cy="914400"/>
          </a:xfrm>
          <a:prstGeom prst="rect">
            <a:avLst/>
          </a:prstGeom>
        </p:spPr>
      </p:pic>
      <p:grpSp>
        <p:nvGrpSpPr>
          <p:cNvPr id="40" name="Csoportba foglalás 39">
            <a:extLst>
              <a:ext uri="{FF2B5EF4-FFF2-40B4-BE49-F238E27FC236}">
                <a16:creationId xmlns:a16="http://schemas.microsoft.com/office/drawing/2014/main" id="{3B297E41-5BA8-3E85-71D4-BFEF001972A1}"/>
              </a:ext>
            </a:extLst>
          </p:cNvPr>
          <p:cNvGrpSpPr/>
          <p:nvPr/>
        </p:nvGrpSpPr>
        <p:grpSpPr>
          <a:xfrm>
            <a:off x="-100405" y="2775924"/>
            <a:ext cx="1370646" cy="1370646"/>
            <a:chOff x="-2330451" y="2426177"/>
            <a:chExt cx="1370646" cy="1370646"/>
          </a:xfrm>
          <a:solidFill>
            <a:schemeClr val="bg1">
              <a:lumMod val="65000"/>
            </a:schemeClr>
          </a:solidFill>
        </p:grpSpPr>
        <p:pic>
          <p:nvPicPr>
            <p:cNvPr id="41" name="Ábra 40" descr="Kör nyíllal egyszínű kitöltéssel">
              <a:extLst>
                <a:ext uri="{FF2B5EF4-FFF2-40B4-BE49-F238E27FC236}">
                  <a16:creationId xmlns:a16="http://schemas.microsoft.com/office/drawing/2014/main" id="{4FF55B04-C055-27EC-981E-B3EA0B4E86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42" name="Ábra 41" descr="Villanykörte és fogaskerék egyszínű kitöltéssel">
              <a:hlinkClick r:id="rId15" action="ppaction://hlinksldjump"/>
              <a:extLst>
                <a:ext uri="{FF2B5EF4-FFF2-40B4-BE49-F238E27FC236}">
                  <a16:creationId xmlns:a16="http://schemas.microsoft.com/office/drawing/2014/main" id="{2BD3109B-0A7B-8EBE-8B18-98930B3FAE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53" name="Ábra 52" descr="Dokumentum egyszínű kitöltéssel">
            <a:hlinkClick r:id="rId17" action="ppaction://hlinksldjump"/>
            <a:extLst>
              <a:ext uri="{FF2B5EF4-FFF2-40B4-BE49-F238E27FC236}">
                <a16:creationId xmlns:a16="http://schemas.microsoft.com/office/drawing/2014/main" id="{7CD531B5-3CCA-D49F-D52F-693232AE0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4349" y="5507128"/>
            <a:ext cx="914400" cy="914400"/>
          </a:xfrm>
          <a:prstGeom prst="rect">
            <a:avLst/>
          </a:prstGeom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38D79D50-A9A2-9455-5ED1-57489435B9F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314" y="1791112"/>
            <a:ext cx="2923990" cy="3867642"/>
          </a:xfrm>
          <a:prstGeom prst="rect">
            <a:avLst/>
          </a:prstGeom>
          <a:effectLst/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8EFC3A18-5178-3845-ACA6-A321559AEBC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745468" y="1791112"/>
            <a:ext cx="3440542" cy="3867642"/>
          </a:xfrm>
          <a:prstGeom prst="rect">
            <a:avLst/>
          </a:prstGeom>
        </p:spPr>
      </p:pic>
      <p:pic>
        <p:nvPicPr>
          <p:cNvPr id="4" name="Kép 3">
            <a:extLst>
              <a:ext uri="{FF2B5EF4-FFF2-40B4-BE49-F238E27FC236}">
                <a16:creationId xmlns:a16="http://schemas.microsoft.com/office/drawing/2014/main" id="{7F53AF58-FFFC-E2C2-6B7B-B6728CB9CB1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7174" y="2621926"/>
            <a:ext cx="2925652" cy="303447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9623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E568-CB2F-846C-0E8E-CB30A8037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églalap 42">
            <a:extLst>
              <a:ext uri="{FF2B5EF4-FFF2-40B4-BE49-F238E27FC236}">
                <a16:creationId xmlns:a16="http://schemas.microsoft.com/office/drawing/2014/main" id="{D2968D3B-3BCF-3C1F-05E1-1D8553063289}"/>
              </a:ext>
            </a:extLst>
          </p:cNvPr>
          <p:cNvSpPr/>
          <p:nvPr/>
        </p:nvSpPr>
        <p:spPr>
          <a:xfrm>
            <a:off x="0" y="0"/>
            <a:ext cx="12191640" cy="6858000"/>
          </a:xfrm>
          <a:prstGeom prst="rect">
            <a:avLst/>
          </a:prstGeom>
          <a:gradFill>
            <a:gsLst>
              <a:gs pos="74000">
                <a:srgbClr val="9140BE"/>
              </a:gs>
              <a:gs pos="87000">
                <a:srgbClr val="743498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3E32029-19DB-E44E-E92D-7BC804B2A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27930" y="1407194"/>
            <a:ext cx="7245168" cy="5154478"/>
          </a:xfrm>
          <a:prstGeom prst="rect">
            <a:avLst/>
          </a:prstGeom>
        </p:spPr>
      </p:pic>
      <p:sp>
        <p:nvSpPr>
          <p:cNvPr id="60" name="Szabadkézi sokszög: alakzat 59">
            <a:extLst>
              <a:ext uri="{FF2B5EF4-FFF2-40B4-BE49-F238E27FC236}">
                <a16:creationId xmlns:a16="http://schemas.microsoft.com/office/drawing/2014/main" id="{69217634-BA57-2AD3-E6B2-118812E00CCA}"/>
              </a:ext>
            </a:extLst>
          </p:cNvPr>
          <p:cNvSpPr/>
          <p:nvPr/>
        </p:nvSpPr>
        <p:spPr>
          <a:xfrm>
            <a:off x="-8264" y="-5922271"/>
            <a:ext cx="1236896" cy="21165363"/>
          </a:xfrm>
          <a:custGeom>
            <a:avLst/>
            <a:gdLst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7" fmla="*/ 1230945 w 1230945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83691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31487"/>
              <a:gd name="csY0" fmla="*/ 0 h 21165363"/>
              <a:gd name="csX1" fmla="*/ 1230945 w 1231487"/>
              <a:gd name="csY1" fmla="*/ 9483691 h 21165363"/>
              <a:gd name="csX2" fmla="*/ 579101 w 1231487"/>
              <a:gd name="csY2" fmla="*/ 10629579 h 21165363"/>
              <a:gd name="csX3" fmla="*/ 1230945 w 1231487"/>
              <a:gd name="csY3" fmla="*/ 11741211 h 21165363"/>
              <a:gd name="csX4" fmla="*/ 1230945 w 1231487"/>
              <a:gd name="csY4" fmla="*/ 21165363 h 21165363"/>
              <a:gd name="csX5" fmla="*/ 0 w 1231487"/>
              <a:gd name="csY5" fmla="*/ 21165363 h 21165363"/>
              <a:gd name="csX6" fmla="*/ 0 w 1231487"/>
              <a:gd name="csY6" fmla="*/ 0 h 21165363"/>
              <a:gd name="csX7" fmla="*/ 1230945 w 1231487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6896" h="21165363">
                <a:moveTo>
                  <a:pt x="1230945" y="0"/>
                </a:moveTo>
                <a:cubicBezTo>
                  <a:pt x="1230945" y="3158848"/>
                  <a:pt x="1244335" y="8705073"/>
                  <a:pt x="1230945" y="9483691"/>
                </a:cubicBezTo>
                <a:cubicBezTo>
                  <a:pt x="1217555" y="10262309"/>
                  <a:pt x="579101" y="10253326"/>
                  <a:pt x="579101" y="10629579"/>
                </a:cubicBezTo>
                <a:cubicBezTo>
                  <a:pt x="579101" y="11005832"/>
                  <a:pt x="1234223" y="10971091"/>
                  <a:pt x="1230945" y="11741211"/>
                </a:cubicBezTo>
                <a:cubicBezTo>
                  <a:pt x="1227667" y="12511331"/>
                  <a:pt x="1230945" y="18023979"/>
                  <a:pt x="1230945" y="21165363"/>
                </a:cubicBezTo>
                <a:lnTo>
                  <a:pt x="0" y="21165363"/>
                </a:lnTo>
                <a:lnTo>
                  <a:pt x="0" y="0"/>
                </a:lnTo>
                <a:lnTo>
                  <a:pt x="1230945" y="0"/>
                </a:lnTo>
                <a:close/>
              </a:path>
            </a:pathLst>
          </a:custGeom>
          <a:solidFill>
            <a:srgbClr val="7B3D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/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8FDBE332-2FAF-7BD5-7539-34176E3D14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977" y="1791112"/>
            <a:ext cx="2923990" cy="3867642"/>
          </a:xfrm>
          <a:prstGeom prst="rect">
            <a:avLst/>
          </a:prstGeom>
          <a:effectLst/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28B273D2-CFC5-490F-1EFF-C3C8D93D4E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8131" y="1791112"/>
            <a:ext cx="3440542" cy="3867642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654E206E-03A8-004F-453C-086686E012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837" y="2621926"/>
            <a:ext cx="2925652" cy="3034470"/>
          </a:xfrm>
          <a:prstGeom prst="rect">
            <a:avLst/>
          </a:prstGeom>
          <a:effectLst/>
        </p:spPr>
      </p:pic>
      <p:pic>
        <p:nvPicPr>
          <p:cNvPr id="7" name="Ábra 6" descr="Telitalálat egyszínű kitöltéssel">
            <a:extLst>
              <a:ext uri="{FF2B5EF4-FFF2-40B4-BE49-F238E27FC236}">
                <a16:creationId xmlns:a16="http://schemas.microsoft.com/office/drawing/2014/main" id="{06275DDA-B12B-B5B2-1593-6D912E2EA6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59805" y="190500"/>
            <a:ext cx="914400" cy="914400"/>
          </a:xfrm>
          <a:prstGeom prst="rect">
            <a:avLst/>
          </a:prstGeom>
        </p:spPr>
      </p:pic>
      <p:pic>
        <p:nvPicPr>
          <p:cNvPr id="9" name="Ábra 8" descr="Villám egyszínű kitöltéssel">
            <a:extLst>
              <a:ext uri="{FF2B5EF4-FFF2-40B4-BE49-F238E27FC236}">
                <a16:creationId xmlns:a16="http://schemas.microsoft.com/office/drawing/2014/main" id="{FFAA99F2-EDCD-6164-FE30-599CF659DB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933928" y="1516396"/>
            <a:ext cx="914400" cy="914400"/>
          </a:xfrm>
          <a:prstGeom prst="rect">
            <a:avLst/>
          </a:prstGeom>
        </p:spPr>
      </p:pic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56DDE65D-B948-945C-EF01-F37D9275B52D}"/>
              </a:ext>
            </a:extLst>
          </p:cNvPr>
          <p:cNvGrpSpPr/>
          <p:nvPr/>
        </p:nvGrpSpPr>
        <p:grpSpPr>
          <a:xfrm>
            <a:off x="-1529875" y="2514600"/>
            <a:ext cx="1370646" cy="1370646"/>
            <a:chOff x="-2330451" y="2426177"/>
            <a:chExt cx="1370646" cy="1370646"/>
          </a:xfrm>
          <a:solidFill>
            <a:schemeClr val="bg1"/>
          </a:solidFill>
        </p:grpSpPr>
        <p:pic>
          <p:nvPicPr>
            <p:cNvPr id="17" name="Ábra 16" descr="Kör nyíllal egyszínű kitöltéssel">
              <a:extLst>
                <a:ext uri="{FF2B5EF4-FFF2-40B4-BE49-F238E27FC236}">
                  <a16:creationId xmlns:a16="http://schemas.microsoft.com/office/drawing/2014/main" id="{0C9E611B-B138-0AD4-43B9-598FB8A631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18" name="Ábra 17" descr="Villanykörte és fogaskerék egyszínű kitöltéssel">
              <a:extLst>
                <a:ext uri="{FF2B5EF4-FFF2-40B4-BE49-F238E27FC236}">
                  <a16:creationId xmlns:a16="http://schemas.microsoft.com/office/drawing/2014/main" id="{20954A48-9384-DA3E-0EEE-9D61B92864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24" name="Ábra 23" descr="Dokumentum egyszínű kitöltéssel">
            <a:extLst>
              <a:ext uri="{FF2B5EF4-FFF2-40B4-BE49-F238E27FC236}">
                <a16:creationId xmlns:a16="http://schemas.microsoft.com/office/drawing/2014/main" id="{A5E29EF0-E709-B712-0651-B2E821E1A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955369" y="5937550"/>
            <a:ext cx="914400" cy="914400"/>
          </a:xfrm>
          <a:prstGeom prst="rect">
            <a:avLst/>
          </a:prstGeom>
        </p:spPr>
      </p:pic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3AC25989-C41C-3D9B-D29B-ED625C89B59B}"/>
              </a:ext>
            </a:extLst>
          </p:cNvPr>
          <p:cNvGrpSpPr/>
          <p:nvPr/>
        </p:nvGrpSpPr>
        <p:grpSpPr>
          <a:xfrm>
            <a:off x="4621188" y="400225"/>
            <a:ext cx="4431371" cy="779721"/>
            <a:chOff x="4812177" y="326477"/>
            <a:chExt cx="4431371" cy="779721"/>
          </a:xfrm>
        </p:grpSpPr>
        <p:sp>
          <p:nvSpPr>
            <p:cNvPr id="32" name="Téglalap: lekerekített 31">
              <a:extLst>
                <a:ext uri="{FF2B5EF4-FFF2-40B4-BE49-F238E27FC236}">
                  <a16:creationId xmlns:a16="http://schemas.microsoft.com/office/drawing/2014/main" id="{50EA5193-3996-5D2C-242F-5094F50FB06B}"/>
                </a:ext>
              </a:extLst>
            </p:cNvPr>
            <p:cNvSpPr/>
            <p:nvPr/>
          </p:nvSpPr>
          <p:spPr>
            <a:xfrm>
              <a:off x="4812177" y="326477"/>
              <a:ext cx="4431371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5" name="Szövegdoboz 34">
              <a:extLst>
                <a:ext uri="{FF2B5EF4-FFF2-40B4-BE49-F238E27FC236}">
                  <a16:creationId xmlns:a16="http://schemas.microsoft.com/office/drawing/2014/main" id="{BF8B7F72-D97E-0613-681A-762C5F9F8C7C}"/>
                </a:ext>
              </a:extLst>
            </p:cNvPr>
            <p:cNvSpPr txBox="1"/>
            <p:nvPr/>
          </p:nvSpPr>
          <p:spPr>
            <a:xfrm>
              <a:off x="5792161" y="362394"/>
              <a:ext cx="24384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Adatbázis</a:t>
              </a:r>
            </a:p>
          </p:txBody>
        </p:sp>
      </p:grpSp>
      <p:pic>
        <p:nvPicPr>
          <p:cNvPr id="53" name="Ábra 52" descr="Telitalálat egyszínű kitöltéssel">
            <a:hlinkClick r:id="rId12" action="ppaction://hlinksldjump"/>
            <a:extLst>
              <a:ext uri="{FF2B5EF4-FFF2-40B4-BE49-F238E27FC236}">
                <a16:creationId xmlns:a16="http://schemas.microsoft.com/office/drawing/2014/main" id="{2BE870D4-A530-4C55-6752-8F2856400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8548" y="614865"/>
            <a:ext cx="914400" cy="914400"/>
          </a:xfrm>
          <a:prstGeom prst="rect">
            <a:avLst/>
          </a:prstGeom>
        </p:spPr>
      </p:pic>
      <p:pic>
        <p:nvPicPr>
          <p:cNvPr id="54" name="Ábra 53" descr="Villám egyszínű kitöltéssel">
            <a:hlinkClick r:id="rId14" action="ppaction://hlinksldjump"/>
            <a:extLst>
              <a:ext uri="{FF2B5EF4-FFF2-40B4-BE49-F238E27FC236}">
                <a16:creationId xmlns:a16="http://schemas.microsoft.com/office/drawing/2014/main" id="{B06C0C7D-40FD-2D88-B636-525BC9FC2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4349" y="1835111"/>
            <a:ext cx="914400" cy="914400"/>
          </a:xfrm>
          <a:prstGeom prst="rect">
            <a:avLst/>
          </a:prstGeom>
        </p:spPr>
      </p:pic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906EDBB0-AD5B-330A-A467-3DC96A17776B}"/>
              </a:ext>
            </a:extLst>
          </p:cNvPr>
          <p:cNvGrpSpPr/>
          <p:nvPr/>
        </p:nvGrpSpPr>
        <p:grpSpPr>
          <a:xfrm>
            <a:off x="-100405" y="2775924"/>
            <a:ext cx="1370646" cy="1370646"/>
            <a:chOff x="-2330451" y="2426177"/>
            <a:chExt cx="1370646" cy="1370646"/>
          </a:xfrm>
          <a:solidFill>
            <a:schemeClr val="bg1">
              <a:lumMod val="65000"/>
            </a:schemeClr>
          </a:solidFill>
        </p:grpSpPr>
        <p:pic>
          <p:nvPicPr>
            <p:cNvPr id="56" name="Ábra 55" descr="Kör nyíllal egyszínű kitöltéssel">
              <a:extLst>
                <a:ext uri="{FF2B5EF4-FFF2-40B4-BE49-F238E27FC236}">
                  <a16:creationId xmlns:a16="http://schemas.microsoft.com/office/drawing/2014/main" id="{D88908E2-A97B-FBE5-703F-0D48B0A29C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57" name="Ábra 56" descr="Villanykörte és fogaskerék egyszínű kitöltéssel">
              <a:hlinkClick r:id="rId17" action="ppaction://hlinksldjump"/>
              <a:extLst>
                <a:ext uri="{FF2B5EF4-FFF2-40B4-BE49-F238E27FC236}">
                  <a16:creationId xmlns:a16="http://schemas.microsoft.com/office/drawing/2014/main" id="{7BE20166-A36B-9F21-9148-6EEA3B6384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58" name="Ábra 57" descr="Dokumentum egyszínű kitöltéssel">
            <a:hlinkClick r:id="rId19" action="ppaction://hlinksldjump"/>
            <a:extLst>
              <a:ext uri="{FF2B5EF4-FFF2-40B4-BE49-F238E27FC236}">
                <a16:creationId xmlns:a16="http://schemas.microsoft.com/office/drawing/2014/main" id="{67CDA34F-4402-33A4-F634-CAD33B067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4349" y="5507128"/>
            <a:ext cx="914400" cy="914400"/>
          </a:xfrm>
          <a:prstGeom prst="rect">
            <a:avLst/>
          </a:prstGeom>
        </p:spPr>
      </p:pic>
      <p:pic>
        <p:nvPicPr>
          <p:cNvPr id="61" name="Ábra 60" descr="Adatbázis egyszínű kitöltéssel">
            <a:extLst>
              <a:ext uri="{FF2B5EF4-FFF2-40B4-BE49-F238E27FC236}">
                <a16:creationId xmlns:a16="http://schemas.microsoft.com/office/drawing/2014/main" id="{39012D80-D44F-4FCC-0ECF-CEA0E5D79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77334" y="4221181"/>
            <a:ext cx="914400" cy="914400"/>
          </a:xfrm>
          <a:prstGeom prst="rect">
            <a:avLst/>
          </a:prstGeom>
        </p:spPr>
      </p:pic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10BF0651-5C53-1EF6-7F0B-6ED1607A2E59}"/>
              </a:ext>
            </a:extLst>
          </p:cNvPr>
          <p:cNvGrpSpPr/>
          <p:nvPr/>
        </p:nvGrpSpPr>
        <p:grpSpPr>
          <a:xfrm>
            <a:off x="4619741" y="-5238433"/>
            <a:ext cx="4396689" cy="779721"/>
            <a:chOff x="4547090" y="326477"/>
            <a:chExt cx="4396689" cy="779721"/>
          </a:xfrm>
        </p:grpSpPr>
        <p:sp>
          <p:nvSpPr>
            <p:cNvPr id="20" name="Téglalap: lekerekített 19">
              <a:extLst>
                <a:ext uri="{FF2B5EF4-FFF2-40B4-BE49-F238E27FC236}">
                  <a16:creationId xmlns:a16="http://schemas.microsoft.com/office/drawing/2014/main" id="{6CDD463A-1034-789D-CCC8-B9E1CE27CBE6}"/>
                </a:ext>
              </a:extLst>
            </p:cNvPr>
            <p:cNvSpPr/>
            <p:nvPr/>
          </p:nvSpPr>
          <p:spPr>
            <a:xfrm>
              <a:off x="4547090" y="326477"/>
              <a:ext cx="4396689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5F6647DF-E5BD-748B-F0A2-E8BBE497B4D6}"/>
                </a:ext>
              </a:extLst>
            </p:cNvPr>
            <p:cNvSpPr txBox="1"/>
            <p:nvPr/>
          </p:nvSpPr>
          <p:spPr>
            <a:xfrm>
              <a:off x="5145470" y="362394"/>
              <a:ext cx="31999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Megtekintés</a:t>
              </a:r>
            </a:p>
          </p:txBody>
        </p:sp>
      </p:grpSp>
      <p:grpSp>
        <p:nvGrpSpPr>
          <p:cNvPr id="26" name="Csoportba foglalás 25">
            <a:extLst>
              <a:ext uri="{FF2B5EF4-FFF2-40B4-BE49-F238E27FC236}">
                <a16:creationId xmlns:a16="http://schemas.microsoft.com/office/drawing/2014/main" id="{C8048AB3-ABEC-42A5-64B6-A89234955EF5}"/>
              </a:ext>
            </a:extLst>
          </p:cNvPr>
          <p:cNvGrpSpPr/>
          <p:nvPr/>
        </p:nvGrpSpPr>
        <p:grpSpPr>
          <a:xfrm>
            <a:off x="6909367" y="-4104260"/>
            <a:ext cx="4469830" cy="3572083"/>
            <a:chOff x="4013135" y="1580401"/>
            <a:chExt cx="4469830" cy="3572083"/>
          </a:xfrm>
        </p:grpSpPr>
        <p:sp>
          <p:nvSpPr>
            <p:cNvPr id="27" name="Téglalap: szamárfül 26">
              <a:extLst>
                <a:ext uri="{FF2B5EF4-FFF2-40B4-BE49-F238E27FC236}">
                  <a16:creationId xmlns:a16="http://schemas.microsoft.com/office/drawing/2014/main" id="{C81602ED-6139-84C2-BA6C-6D655CD076AE}"/>
                </a:ext>
              </a:extLst>
            </p:cNvPr>
            <p:cNvSpPr/>
            <p:nvPr/>
          </p:nvSpPr>
          <p:spPr>
            <a:xfrm>
              <a:off x="4086276" y="1580401"/>
              <a:ext cx="4396689" cy="3572083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4400" dirty="0">
                <a:solidFill>
                  <a:schemeClr val="bg1"/>
                </a:solidFill>
              </a:endParaRPr>
            </a:p>
          </p:txBody>
        </p:sp>
        <p:sp>
          <p:nvSpPr>
            <p:cNvPr id="28" name="Szövegdoboz 27">
              <a:extLst>
                <a:ext uri="{FF2B5EF4-FFF2-40B4-BE49-F238E27FC236}">
                  <a16:creationId xmlns:a16="http://schemas.microsoft.com/office/drawing/2014/main" id="{D771DAC5-C43D-C240-F5A3-41BA9919E82C}"/>
                </a:ext>
              </a:extLst>
            </p:cNvPr>
            <p:cNvSpPr txBox="1"/>
            <p:nvPr/>
          </p:nvSpPr>
          <p:spPr>
            <a:xfrm>
              <a:off x="4013135" y="1794404"/>
              <a:ext cx="4153877" cy="3021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2413" algn="ctr">
                <a:spcAft>
                  <a:spcPts val="3000"/>
                </a:spcAft>
              </a:pPr>
              <a:r>
                <a:rPr lang="hu-HU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Csapat munka</a:t>
              </a:r>
            </a:p>
            <a:p>
              <a:pPr marL="252413"/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Boros Dániel: </a:t>
              </a:r>
            </a:p>
            <a:p>
              <a:pPr marL="355600">
                <a:spcAft>
                  <a:spcPts val="2000"/>
                </a:spcAf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Frontend, Backend, PowerPoint</a:t>
              </a:r>
            </a:p>
            <a:p>
              <a:pPr marL="252413"/>
              <a:r>
                <a:rPr lang="hu-HU" b="1" i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Hencsey</a:t>
              </a: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Dorina: </a:t>
              </a:r>
            </a:p>
            <a:p>
              <a:pPr marL="355600">
                <a:spcAft>
                  <a:spcPts val="2000"/>
                </a:spcAf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Frontend, Backend, PowerPoint</a:t>
              </a:r>
            </a:p>
            <a:p>
              <a:pPr marL="252413"/>
              <a:r>
                <a:rPr lang="hu-HU" b="1" i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Kléber</a:t>
              </a: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Gergely László: </a:t>
              </a:r>
            </a:p>
            <a:p>
              <a:pPr marL="355600">
                <a:spcAft>
                  <a:spcPts val="2000"/>
                </a:spcAf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Frontend, Backend</a:t>
              </a:r>
            </a:p>
          </p:txBody>
        </p:sp>
      </p:grpSp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5346EC15-8012-C83C-C27F-7A9E570108E5}"/>
              </a:ext>
            </a:extLst>
          </p:cNvPr>
          <p:cNvGrpSpPr/>
          <p:nvPr/>
        </p:nvGrpSpPr>
        <p:grpSpPr>
          <a:xfrm>
            <a:off x="2104728" y="-4104260"/>
            <a:ext cx="4396689" cy="3572083"/>
            <a:chOff x="2104728" y="1529265"/>
            <a:chExt cx="4396689" cy="3572083"/>
          </a:xfrm>
        </p:grpSpPr>
        <p:sp>
          <p:nvSpPr>
            <p:cNvPr id="30" name="Téglalap: szamárfül 29">
              <a:extLst>
                <a:ext uri="{FF2B5EF4-FFF2-40B4-BE49-F238E27FC236}">
                  <a16:creationId xmlns:a16="http://schemas.microsoft.com/office/drawing/2014/main" id="{ACF0D5CB-FE69-4EAB-7934-1FD95BC60259}"/>
                </a:ext>
              </a:extLst>
            </p:cNvPr>
            <p:cNvSpPr/>
            <p:nvPr/>
          </p:nvSpPr>
          <p:spPr>
            <a:xfrm>
              <a:off x="2104728" y="1529265"/>
              <a:ext cx="4396689" cy="3572083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4400" dirty="0">
                <a:solidFill>
                  <a:schemeClr val="bg1"/>
                </a:solidFill>
              </a:endParaRPr>
            </a:p>
          </p:txBody>
        </p:sp>
        <p:grpSp>
          <p:nvGrpSpPr>
            <p:cNvPr id="33" name="Csoportba foglalás 32">
              <a:extLst>
                <a:ext uri="{FF2B5EF4-FFF2-40B4-BE49-F238E27FC236}">
                  <a16:creationId xmlns:a16="http://schemas.microsoft.com/office/drawing/2014/main" id="{108F9796-1C4B-83EA-206D-5F916BD8A392}"/>
                </a:ext>
              </a:extLst>
            </p:cNvPr>
            <p:cNvGrpSpPr/>
            <p:nvPr/>
          </p:nvGrpSpPr>
          <p:grpSpPr>
            <a:xfrm>
              <a:off x="3221252" y="1854461"/>
              <a:ext cx="2163640" cy="2809792"/>
              <a:chOff x="3948170" y="538949"/>
              <a:chExt cx="4469020" cy="5803653"/>
            </a:xfrm>
          </p:grpSpPr>
          <p:pic>
            <p:nvPicPr>
              <p:cNvPr id="34" name="Kép 33">
                <a:extLst>
                  <a:ext uri="{FF2B5EF4-FFF2-40B4-BE49-F238E27FC236}">
                    <a16:creationId xmlns:a16="http://schemas.microsoft.com/office/drawing/2014/main" id="{A7C063D6-941F-322B-737C-46F006BB9E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5" t="1196" r="1589" b="1029"/>
              <a:stretch>
                <a:fillRect/>
              </a:stretch>
            </p:blipFill>
            <p:spPr>
              <a:xfrm>
                <a:off x="3979655" y="538949"/>
                <a:ext cx="4111872" cy="4111871"/>
              </a:xfrm>
              <a:custGeom>
                <a:avLst/>
                <a:gdLst>
                  <a:gd name="csX0" fmla="*/ 1379454 w 2758908"/>
                  <a:gd name="csY0" fmla="*/ 0 h 2758908"/>
                  <a:gd name="csX1" fmla="*/ 2758908 w 2758908"/>
                  <a:gd name="csY1" fmla="*/ 1379454 h 2758908"/>
                  <a:gd name="csX2" fmla="*/ 1379454 w 2758908"/>
                  <a:gd name="csY2" fmla="*/ 2758908 h 2758908"/>
                  <a:gd name="csX3" fmla="*/ 0 w 2758908"/>
                  <a:gd name="csY3" fmla="*/ 1379454 h 2758908"/>
                  <a:gd name="csX4" fmla="*/ 1379454 w 2758908"/>
                  <a:gd name="csY4" fmla="*/ 0 h 2758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758908" h="2758908">
                    <a:moveTo>
                      <a:pt x="1379454" y="0"/>
                    </a:moveTo>
                    <a:cubicBezTo>
                      <a:pt x="2141305" y="0"/>
                      <a:pt x="2758908" y="617603"/>
                      <a:pt x="2758908" y="1379454"/>
                    </a:cubicBezTo>
                    <a:cubicBezTo>
                      <a:pt x="2758908" y="2141305"/>
                      <a:pt x="2141305" y="2758908"/>
                      <a:pt x="1379454" y="2758908"/>
                    </a:cubicBezTo>
                    <a:cubicBezTo>
                      <a:pt x="617603" y="2758908"/>
                      <a:pt x="0" y="2141305"/>
                      <a:pt x="0" y="1379454"/>
                    </a:cubicBezTo>
                    <a:cubicBezTo>
                      <a:pt x="0" y="617603"/>
                      <a:pt x="617603" y="0"/>
                      <a:pt x="1379454" y="0"/>
                    </a:cubicBezTo>
                    <a:close/>
                  </a:path>
                </a:pathLst>
              </a:custGeom>
              <a:effectLst>
                <a:outerShdw blurRad="508000" dist="50800" dir="5400000" sx="109000" sy="109000" algn="ctr" rotWithShape="0">
                  <a:srgbClr val="000000">
                    <a:alpha val="0"/>
                  </a:srgbClr>
                </a:outerShdw>
              </a:effectLst>
            </p:spPr>
          </p:pic>
          <p:sp>
            <p:nvSpPr>
              <p:cNvPr id="37" name="Szövegdoboz 36">
                <a:extLst>
                  <a:ext uri="{FF2B5EF4-FFF2-40B4-BE49-F238E27FC236}">
                    <a16:creationId xmlns:a16="http://schemas.microsoft.com/office/drawing/2014/main" id="{683DBA68-4BEB-1A2B-4998-A1774C6A9916}"/>
                  </a:ext>
                </a:extLst>
              </p:cNvPr>
              <p:cNvSpPr txBox="1"/>
              <p:nvPr/>
            </p:nvSpPr>
            <p:spPr>
              <a:xfrm>
                <a:off x="3948170" y="5261886"/>
                <a:ext cx="4469020" cy="1080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hu-HU" sz="2800" u="sng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hlinkClick r:id="rId2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Villám Meló</a:t>
                </a:r>
                <a:endParaRPr lang="hu-HU" sz="2800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2178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C0D02-1538-694F-E249-87759B06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églalap 33">
            <a:extLst>
              <a:ext uri="{FF2B5EF4-FFF2-40B4-BE49-F238E27FC236}">
                <a16:creationId xmlns:a16="http://schemas.microsoft.com/office/drawing/2014/main" id="{04EA942F-5F20-1C89-2368-497B4937F4F8}"/>
              </a:ext>
            </a:extLst>
          </p:cNvPr>
          <p:cNvSpPr/>
          <p:nvPr/>
        </p:nvSpPr>
        <p:spPr>
          <a:xfrm>
            <a:off x="74694" y="0"/>
            <a:ext cx="12191640" cy="6858000"/>
          </a:xfrm>
          <a:prstGeom prst="rect">
            <a:avLst/>
          </a:prstGeom>
          <a:gradFill>
            <a:gsLst>
              <a:gs pos="74000">
                <a:srgbClr val="9140BE"/>
              </a:gs>
              <a:gs pos="87000">
                <a:srgbClr val="743498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chemeClr val="accent5">
                  <a:lumMod val="20000"/>
                  <a:lumOff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Ábra 5" descr="Telitalálat egyszínű kitöltéssel">
            <a:extLst>
              <a:ext uri="{FF2B5EF4-FFF2-40B4-BE49-F238E27FC236}">
                <a16:creationId xmlns:a16="http://schemas.microsoft.com/office/drawing/2014/main" id="{C797418C-7F45-3628-111E-EF7DF6D538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59805" y="190500"/>
            <a:ext cx="914400" cy="914400"/>
          </a:xfrm>
          <a:prstGeom prst="rect">
            <a:avLst/>
          </a:prstGeom>
        </p:spPr>
      </p:pic>
      <p:pic>
        <p:nvPicPr>
          <p:cNvPr id="8" name="Ábra 7" descr="Villám egyszínű kitöltéssel">
            <a:extLst>
              <a:ext uri="{FF2B5EF4-FFF2-40B4-BE49-F238E27FC236}">
                <a16:creationId xmlns:a16="http://schemas.microsoft.com/office/drawing/2014/main" id="{7BD119CD-BC60-E069-9FA5-B14430E347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33928" y="1516396"/>
            <a:ext cx="914400" cy="914400"/>
          </a:xfrm>
          <a:prstGeom prst="rect">
            <a:avLst/>
          </a:prstGeom>
        </p:spPr>
      </p:pic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40A1DCA4-7926-F40D-09D3-7A7BD089AF3E}"/>
              </a:ext>
            </a:extLst>
          </p:cNvPr>
          <p:cNvGrpSpPr/>
          <p:nvPr/>
        </p:nvGrpSpPr>
        <p:grpSpPr>
          <a:xfrm>
            <a:off x="-1529875" y="2514600"/>
            <a:ext cx="1370646" cy="1370646"/>
            <a:chOff x="-2330451" y="2426177"/>
            <a:chExt cx="1370646" cy="1370646"/>
          </a:xfrm>
          <a:solidFill>
            <a:schemeClr val="bg1"/>
          </a:solidFill>
        </p:grpSpPr>
        <p:pic>
          <p:nvPicPr>
            <p:cNvPr id="13" name="Ábra 12" descr="Kör nyíllal egyszínű kitöltéssel">
              <a:extLst>
                <a:ext uri="{FF2B5EF4-FFF2-40B4-BE49-F238E27FC236}">
                  <a16:creationId xmlns:a16="http://schemas.microsoft.com/office/drawing/2014/main" id="{E11D6439-048C-3943-1626-8E2C2779FE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14" name="Ábra 13" descr="Villanykörte és fogaskerék egyszínű kitöltéssel">
              <a:extLst>
                <a:ext uri="{FF2B5EF4-FFF2-40B4-BE49-F238E27FC236}">
                  <a16:creationId xmlns:a16="http://schemas.microsoft.com/office/drawing/2014/main" id="{797A1A72-1CBC-7A2A-E0A2-1D73C2F256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18" name="Ábra 17" descr="Adatbázis egyszínű kitöltéssel">
            <a:extLst>
              <a:ext uri="{FF2B5EF4-FFF2-40B4-BE49-F238E27FC236}">
                <a16:creationId xmlns:a16="http://schemas.microsoft.com/office/drawing/2014/main" id="{783A1F6B-6D18-6A9A-7174-A61F3C096A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94014" y="3771720"/>
            <a:ext cx="914400" cy="914400"/>
          </a:xfrm>
          <a:prstGeom prst="rect">
            <a:avLst/>
          </a:prstGeom>
        </p:spPr>
      </p:pic>
      <p:sp>
        <p:nvSpPr>
          <p:cNvPr id="21" name="Szabadkézi sokszög: alakzat 20">
            <a:extLst>
              <a:ext uri="{FF2B5EF4-FFF2-40B4-BE49-F238E27FC236}">
                <a16:creationId xmlns:a16="http://schemas.microsoft.com/office/drawing/2014/main" id="{92204462-065D-0FAA-2A5A-676E4DF91A35}"/>
              </a:ext>
            </a:extLst>
          </p:cNvPr>
          <p:cNvSpPr/>
          <p:nvPr/>
        </p:nvSpPr>
        <p:spPr>
          <a:xfrm>
            <a:off x="4436" y="-4644335"/>
            <a:ext cx="1236896" cy="21165363"/>
          </a:xfrm>
          <a:custGeom>
            <a:avLst/>
            <a:gdLst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0" fmla="*/ 1230945 w 1230945"/>
              <a:gd name="csY0" fmla="*/ 0 h 21165363"/>
              <a:gd name="csX1" fmla="*/ 1230945 w 1230945"/>
              <a:gd name="csY1" fmla="*/ 9476544 h 21165363"/>
              <a:gd name="csX2" fmla="*/ 579101 w 1230945"/>
              <a:gd name="csY2" fmla="*/ 10629576 h 21165363"/>
              <a:gd name="csX3" fmla="*/ 1230945 w 1230945"/>
              <a:gd name="csY3" fmla="*/ 11741211 h 21165363"/>
              <a:gd name="csX4" fmla="*/ 1230945 w 1230945"/>
              <a:gd name="csY4" fmla="*/ 21165363 h 21165363"/>
              <a:gd name="csX5" fmla="*/ 0 w 1230945"/>
              <a:gd name="csY5" fmla="*/ 21165363 h 21165363"/>
              <a:gd name="csX6" fmla="*/ 0 w 1230945"/>
              <a:gd name="csY6" fmla="*/ 0 h 21165363"/>
              <a:gd name="csX7" fmla="*/ 1230945 w 1230945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48"/>
              <a:gd name="csY0" fmla="*/ 0 h 21165363"/>
              <a:gd name="csX1" fmla="*/ 1230945 w 1230948"/>
              <a:gd name="csY1" fmla="*/ 9476544 h 21165363"/>
              <a:gd name="csX2" fmla="*/ 579101 w 1230948"/>
              <a:gd name="csY2" fmla="*/ 10629576 h 21165363"/>
              <a:gd name="csX3" fmla="*/ 1230945 w 1230948"/>
              <a:gd name="csY3" fmla="*/ 11741211 h 21165363"/>
              <a:gd name="csX4" fmla="*/ 1230945 w 1230948"/>
              <a:gd name="csY4" fmla="*/ 21165363 h 21165363"/>
              <a:gd name="csX5" fmla="*/ 0 w 1230948"/>
              <a:gd name="csY5" fmla="*/ 21165363 h 21165363"/>
              <a:gd name="csX6" fmla="*/ 0 w 1230948"/>
              <a:gd name="csY6" fmla="*/ 0 h 21165363"/>
              <a:gd name="csX7" fmla="*/ 1230945 w 1230948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30992"/>
              <a:gd name="csY0" fmla="*/ 0 h 21165363"/>
              <a:gd name="csX1" fmla="*/ 1230945 w 1230992"/>
              <a:gd name="csY1" fmla="*/ 9476544 h 21165363"/>
              <a:gd name="csX2" fmla="*/ 579101 w 1230992"/>
              <a:gd name="csY2" fmla="*/ 10629576 h 21165363"/>
              <a:gd name="csX3" fmla="*/ 1230945 w 1230992"/>
              <a:gd name="csY3" fmla="*/ 11741211 h 21165363"/>
              <a:gd name="csX4" fmla="*/ 1230945 w 1230992"/>
              <a:gd name="csY4" fmla="*/ 21165363 h 21165363"/>
              <a:gd name="csX5" fmla="*/ 0 w 1230992"/>
              <a:gd name="csY5" fmla="*/ 21165363 h 21165363"/>
              <a:gd name="csX6" fmla="*/ 0 w 1230992"/>
              <a:gd name="csY6" fmla="*/ 0 h 21165363"/>
              <a:gd name="csX7" fmla="*/ 1230945 w 1230992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79229"/>
              <a:gd name="csY0" fmla="*/ 0 h 21165363"/>
              <a:gd name="csX1" fmla="*/ 1230945 w 1279229"/>
              <a:gd name="csY1" fmla="*/ 9476544 h 21165363"/>
              <a:gd name="csX2" fmla="*/ 579101 w 1279229"/>
              <a:gd name="csY2" fmla="*/ 10629579 h 21165363"/>
              <a:gd name="csX3" fmla="*/ 1230945 w 1279229"/>
              <a:gd name="csY3" fmla="*/ 11741211 h 21165363"/>
              <a:gd name="csX4" fmla="*/ 1230945 w 1279229"/>
              <a:gd name="csY4" fmla="*/ 21165363 h 21165363"/>
              <a:gd name="csX5" fmla="*/ 0 w 1279229"/>
              <a:gd name="csY5" fmla="*/ 21165363 h 21165363"/>
              <a:gd name="csX6" fmla="*/ 0 w 1279229"/>
              <a:gd name="csY6" fmla="*/ 0 h 21165363"/>
              <a:gd name="csX7" fmla="*/ 1230945 w 1279229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76544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62296"/>
              <a:gd name="csY0" fmla="*/ 0 h 21165363"/>
              <a:gd name="csX1" fmla="*/ 1230945 w 1262296"/>
              <a:gd name="csY1" fmla="*/ 9483691 h 21165363"/>
              <a:gd name="csX2" fmla="*/ 579101 w 1262296"/>
              <a:gd name="csY2" fmla="*/ 10629579 h 21165363"/>
              <a:gd name="csX3" fmla="*/ 1230945 w 1262296"/>
              <a:gd name="csY3" fmla="*/ 11741211 h 21165363"/>
              <a:gd name="csX4" fmla="*/ 1230945 w 1262296"/>
              <a:gd name="csY4" fmla="*/ 21165363 h 21165363"/>
              <a:gd name="csX5" fmla="*/ 0 w 1262296"/>
              <a:gd name="csY5" fmla="*/ 21165363 h 21165363"/>
              <a:gd name="csX6" fmla="*/ 0 w 1262296"/>
              <a:gd name="csY6" fmla="*/ 0 h 21165363"/>
              <a:gd name="csX7" fmla="*/ 1230945 w 1262296"/>
              <a:gd name="csY7" fmla="*/ 0 h 21165363"/>
              <a:gd name="csX0" fmla="*/ 1230945 w 1231487"/>
              <a:gd name="csY0" fmla="*/ 0 h 21165363"/>
              <a:gd name="csX1" fmla="*/ 1230945 w 1231487"/>
              <a:gd name="csY1" fmla="*/ 9483691 h 21165363"/>
              <a:gd name="csX2" fmla="*/ 579101 w 1231487"/>
              <a:gd name="csY2" fmla="*/ 10629579 h 21165363"/>
              <a:gd name="csX3" fmla="*/ 1230945 w 1231487"/>
              <a:gd name="csY3" fmla="*/ 11741211 h 21165363"/>
              <a:gd name="csX4" fmla="*/ 1230945 w 1231487"/>
              <a:gd name="csY4" fmla="*/ 21165363 h 21165363"/>
              <a:gd name="csX5" fmla="*/ 0 w 1231487"/>
              <a:gd name="csY5" fmla="*/ 21165363 h 21165363"/>
              <a:gd name="csX6" fmla="*/ 0 w 1231487"/>
              <a:gd name="csY6" fmla="*/ 0 h 21165363"/>
              <a:gd name="csX7" fmla="*/ 1230945 w 1231487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  <a:gd name="csX0" fmla="*/ 1230945 w 1236896"/>
              <a:gd name="csY0" fmla="*/ 0 h 21165363"/>
              <a:gd name="csX1" fmla="*/ 1230945 w 1236896"/>
              <a:gd name="csY1" fmla="*/ 9483691 h 21165363"/>
              <a:gd name="csX2" fmla="*/ 579101 w 1236896"/>
              <a:gd name="csY2" fmla="*/ 10629579 h 21165363"/>
              <a:gd name="csX3" fmla="*/ 1230945 w 1236896"/>
              <a:gd name="csY3" fmla="*/ 11741211 h 21165363"/>
              <a:gd name="csX4" fmla="*/ 1230945 w 1236896"/>
              <a:gd name="csY4" fmla="*/ 21165363 h 21165363"/>
              <a:gd name="csX5" fmla="*/ 0 w 1236896"/>
              <a:gd name="csY5" fmla="*/ 21165363 h 21165363"/>
              <a:gd name="csX6" fmla="*/ 0 w 1236896"/>
              <a:gd name="csY6" fmla="*/ 0 h 21165363"/>
              <a:gd name="csX7" fmla="*/ 1230945 w 1236896"/>
              <a:gd name="csY7" fmla="*/ 0 h 211653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36896" h="21165363">
                <a:moveTo>
                  <a:pt x="1230945" y="0"/>
                </a:moveTo>
                <a:cubicBezTo>
                  <a:pt x="1230945" y="3158848"/>
                  <a:pt x="1244335" y="8705073"/>
                  <a:pt x="1230945" y="9483691"/>
                </a:cubicBezTo>
                <a:cubicBezTo>
                  <a:pt x="1217555" y="10262309"/>
                  <a:pt x="579101" y="10253326"/>
                  <a:pt x="579101" y="10629579"/>
                </a:cubicBezTo>
                <a:cubicBezTo>
                  <a:pt x="579101" y="11005832"/>
                  <a:pt x="1234223" y="10971091"/>
                  <a:pt x="1230945" y="11741211"/>
                </a:cubicBezTo>
                <a:cubicBezTo>
                  <a:pt x="1227667" y="12511331"/>
                  <a:pt x="1230945" y="18023979"/>
                  <a:pt x="1230945" y="21165363"/>
                </a:cubicBezTo>
                <a:lnTo>
                  <a:pt x="0" y="21165363"/>
                </a:lnTo>
                <a:lnTo>
                  <a:pt x="0" y="0"/>
                </a:lnTo>
                <a:lnTo>
                  <a:pt x="1230945" y="0"/>
                </a:lnTo>
                <a:close/>
              </a:path>
            </a:pathLst>
          </a:custGeom>
          <a:solidFill>
            <a:srgbClr val="7B3D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hu-HU"/>
          </a:p>
        </p:txBody>
      </p:sp>
      <p:pic>
        <p:nvPicPr>
          <p:cNvPr id="20" name="Ábra 19" descr="Dokumentum egyszínű kitöltéssel">
            <a:extLst>
              <a:ext uri="{FF2B5EF4-FFF2-40B4-BE49-F238E27FC236}">
                <a16:creationId xmlns:a16="http://schemas.microsoft.com/office/drawing/2014/main" id="{E31DBA83-FE95-D1EA-3757-F986C3728A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3041" y="5503305"/>
            <a:ext cx="914400" cy="914400"/>
          </a:xfrm>
          <a:prstGeom prst="rect">
            <a:avLst/>
          </a:prstGeom>
        </p:spPr>
      </p:pic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CD980F86-07BF-AFA2-1ED1-DE8FE594EC5E}"/>
              </a:ext>
            </a:extLst>
          </p:cNvPr>
          <p:cNvGrpSpPr/>
          <p:nvPr/>
        </p:nvGrpSpPr>
        <p:grpSpPr>
          <a:xfrm>
            <a:off x="4619741" y="395092"/>
            <a:ext cx="4396689" cy="779721"/>
            <a:chOff x="4547090" y="326477"/>
            <a:chExt cx="4396689" cy="779721"/>
          </a:xfrm>
        </p:grpSpPr>
        <p:sp>
          <p:nvSpPr>
            <p:cNvPr id="29" name="Téglalap: lekerekített 28">
              <a:extLst>
                <a:ext uri="{FF2B5EF4-FFF2-40B4-BE49-F238E27FC236}">
                  <a16:creationId xmlns:a16="http://schemas.microsoft.com/office/drawing/2014/main" id="{E549D17D-96E6-06AA-92F5-FC78B464FC14}"/>
                </a:ext>
              </a:extLst>
            </p:cNvPr>
            <p:cNvSpPr/>
            <p:nvPr/>
          </p:nvSpPr>
          <p:spPr>
            <a:xfrm>
              <a:off x="4547090" y="326477"/>
              <a:ext cx="4396689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2" name="Szövegdoboz 31">
              <a:extLst>
                <a:ext uri="{FF2B5EF4-FFF2-40B4-BE49-F238E27FC236}">
                  <a16:creationId xmlns:a16="http://schemas.microsoft.com/office/drawing/2014/main" id="{40F4A43D-EE40-B55A-7720-450996A09626}"/>
                </a:ext>
              </a:extLst>
            </p:cNvPr>
            <p:cNvSpPr txBox="1"/>
            <p:nvPr/>
          </p:nvSpPr>
          <p:spPr>
            <a:xfrm>
              <a:off x="5145470" y="362394"/>
              <a:ext cx="31999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Megtekintés</a:t>
              </a:r>
            </a:p>
          </p:txBody>
        </p:sp>
      </p:grpSp>
      <p:pic>
        <p:nvPicPr>
          <p:cNvPr id="26" name="Ábra 25" descr="Telitalálat egyszínű kitöltéssel">
            <a:hlinkClick r:id="rId9" action="ppaction://hlinksldjump"/>
            <a:extLst>
              <a:ext uri="{FF2B5EF4-FFF2-40B4-BE49-F238E27FC236}">
                <a16:creationId xmlns:a16="http://schemas.microsoft.com/office/drawing/2014/main" id="{4B5DAC42-1D83-43F3-FA38-2CFE73A9C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8548" y="614865"/>
            <a:ext cx="914400" cy="914400"/>
          </a:xfrm>
          <a:prstGeom prst="rect">
            <a:avLst/>
          </a:prstGeom>
        </p:spPr>
      </p:pic>
      <p:pic>
        <p:nvPicPr>
          <p:cNvPr id="28" name="Ábra 27" descr="Villám egyszínű kitöltéssel">
            <a:hlinkClick r:id="rId11" action="ppaction://hlinksldjump"/>
            <a:extLst>
              <a:ext uri="{FF2B5EF4-FFF2-40B4-BE49-F238E27FC236}">
                <a16:creationId xmlns:a16="http://schemas.microsoft.com/office/drawing/2014/main" id="{00520D93-F0EE-9C6C-8A95-46DD51954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4349" y="1835111"/>
            <a:ext cx="914400" cy="914400"/>
          </a:xfrm>
          <a:prstGeom prst="rect">
            <a:avLst/>
          </a:prstGeom>
        </p:spPr>
      </p:pic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A8D4C601-8EAF-2D87-A06E-E6037DB12244}"/>
              </a:ext>
            </a:extLst>
          </p:cNvPr>
          <p:cNvGrpSpPr/>
          <p:nvPr/>
        </p:nvGrpSpPr>
        <p:grpSpPr>
          <a:xfrm>
            <a:off x="-100405" y="2775924"/>
            <a:ext cx="1370646" cy="1370646"/>
            <a:chOff x="-2330451" y="2426177"/>
            <a:chExt cx="1370646" cy="1370646"/>
          </a:xfrm>
          <a:solidFill>
            <a:schemeClr val="bg1">
              <a:lumMod val="65000"/>
            </a:schemeClr>
          </a:solidFill>
        </p:grpSpPr>
        <p:pic>
          <p:nvPicPr>
            <p:cNvPr id="33" name="Ábra 32" descr="Kör nyíllal egyszínű kitöltéssel">
              <a:extLst>
                <a:ext uri="{FF2B5EF4-FFF2-40B4-BE49-F238E27FC236}">
                  <a16:creationId xmlns:a16="http://schemas.microsoft.com/office/drawing/2014/main" id="{B88D876C-8E18-38AF-8498-F0D376F2C8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-2330451" y="2426177"/>
              <a:ext cx="1370646" cy="1370646"/>
            </a:xfrm>
            <a:prstGeom prst="rect">
              <a:avLst/>
            </a:prstGeom>
          </p:spPr>
        </p:pic>
        <p:pic>
          <p:nvPicPr>
            <p:cNvPr id="35" name="Ábra 34" descr="Villanykörte és fogaskerék egyszínű kitöltéssel">
              <a:hlinkClick r:id="rId14" action="ppaction://hlinksldjump"/>
              <a:extLst>
                <a:ext uri="{FF2B5EF4-FFF2-40B4-BE49-F238E27FC236}">
                  <a16:creationId xmlns:a16="http://schemas.microsoft.com/office/drawing/2014/main" id="{96AE21BC-2B81-9D32-3D94-BFD216BCCE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-1943399" y="2786873"/>
              <a:ext cx="649254" cy="649254"/>
            </a:xfrm>
            <a:prstGeom prst="rect">
              <a:avLst/>
            </a:prstGeom>
          </p:spPr>
        </p:pic>
      </p:grpSp>
      <p:pic>
        <p:nvPicPr>
          <p:cNvPr id="37" name="Ábra 36" descr="Adatbázis egyszínű kitöltéssel">
            <a:hlinkClick r:id="rId16" action="ppaction://hlinksldjump"/>
            <a:extLst>
              <a:ext uri="{FF2B5EF4-FFF2-40B4-BE49-F238E27FC236}">
                <a16:creationId xmlns:a16="http://schemas.microsoft.com/office/drawing/2014/main" id="{AEF8A177-D4E5-0B1E-3C9B-FAA725BE0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7718" y="4238084"/>
            <a:ext cx="914400" cy="914400"/>
          </a:xfrm>
          <a:prstGeom prst="rect">
            <a:avLst/>
          </a:prstGeom>
        </p:spPr>
      </p:pic>
      <p:pic>
        <p:nvPicPr>
          <p:cNvPr id="52" name="Kép 51">
            <a:extLst>
              <a:ext uri="{FF2B5EF4-FFF2-40B4-BE49-F238E27FC236}">
                <a16:creationId xmlns:a16="http://schemas.microsoft.com/office/drawing/2014/main" id="{BB7F466F-596E-53B0-7F12-0A8044AB6C92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1000"/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>
                        <a14:foregroundMark x1="71391" y1="58411" x2="71391" y2="58411"/>
                        <a14:foregroundMark x1="69536" y1="55894" x2="69536" y2="55894"/>
                        <a14:foregroundMark x1="74305" y1="50199" x2="74305" y2="50199"/>
                        <a14:foregroundMark x1="75629" y1="69669" x2="75629" y2="6966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67854" y="4249231"/>
            <a:ext cx="3124146" cy="3124146"/>
          </a:xfrm>
          <a:prstGeom prst="rect">
            <a:avLst/>
          </a:prstGeom>
        </p:spPr>
      </p:pic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81B210DB-0168-9FAA-E8A8-042B30784A5E}"/>
              </a:ext>
            </a:extLst>
          </p:cNvPr>
          <p:cNvGrpSpPr/>
          <p:nvPr/>
        </p:nvGrpSpPr>
        <p:grpSpPr>
          <a:xfrm>
            <a:off x="6909367" y="1529265"/>
            <a:ext cx="4469830" cy="3572083"/>
            <a:chOff x="4013135" y="1580401"/>
            <a:chExt cx="4469830" cy="3572083"/>
          </a:xfrm>
        </p:grpSpPr>
        <p:sp>
          <p:nvSpPr>
            <p:cNvPr id="4" name="Téglalap: szamárfül 3">
              <a:extLst>
                <a:ext uri="{FF2B5EF4-FFF2-40B4-BE49-F238E27FC236}">
                  <a16:creationId xmlns:a16="http://schemas.microsoft.com/office/drawing/2014/main" id="{8DF6B855-DC40-9EA9-B4C8-A1DDBE318D3D}"/>
                </a:ext>
              </a:extLst>
            </p:cNvPr>
            <p:cNvSpPr/>
            <p:nvPr/>
          </p:nvSpPr>
          <p:spPr>
            <a:xfrm>
              <a:off x="4086276" y="1580401"/>
              <a:ext cx="4396689" cy="3572083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4400" dirty="0">
                <a:solidFill>
                  <a:schemeClr val="bg1"/>
                </a:solidFill>
              </a:endParaRPr>
            </a:p>
          </p:txBody>
        </p:sp>
        <p:sp>
          <p:nvSpPr>
            <p:cNvPr id="54" name="Szövegdoboz 53">
              <a:extLst>
                <a:ext uri="{FF2B5EF4-FFF2-40B4-BE49-F238E27FC236}">
                  <a16:creationId xmlns:a16="http://schemas.microsoft.com/office/drawing/2014/main" id="{61084E33-071B-D2AB-F8E9-A984778D1B44}"/>
                </a:ext>
              </a:extLst>
            </p:cNvPr>
            <p:cNvSpPr txBox="1"/>
            <p:nvPr/>
          </p:nvSpPr>
          <p:spPr>
            <a:xfrm>
              <a:off x="4013135" y="1794404"/>
              <a:ext cx="4153877" cy="3021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52413" algn="ctr">
                <a:spcAft>
                  <a:spcPts val="3000"/>
                </a:spcAft>
              </a:pPr>
              <a:r>
                <a:rPr lang="hu-HU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Csapat munka</a:t>
              </a:r>
            </a:p>
            <a:p>
              <a:pPr marL="252413"/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Boros Dániel: </a:t>
              </a:r>
            </a:p>
            <a:p>
              <a:pPr marL="355600">
                <a:spcAft>
                  <a:spcPts val="2000"/>
                </a:spcAf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Frontend, Backend, PowerPoint</a:t>
              </a:r>
            </a:p>
            <a:p>
              <a:pPr marL="252413"/>
              <a:r>
                <a:rPr lang="hu-HU" b="1" i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Hencsey</a:t>
              </a: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Dorina: </a:t>
              </a:r>
            </a:p>
            <a:p>
              <a:pPr marL="355600">
                <a:spcAft>
                  <a:spcPts val="2000"/>
                </a:spcAf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Frontend, Backend, PowerPoint</a:t>
              </a:r>
            </a:p>
            <a:p>
              <a:pPr marL="252413"/>
              <a:r>
                <a:rPr lang="hu-HU" b="1" i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Kléber</a:t>
              </a:r>
              <a:r>
                <a:rPr lang="hu-HU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Gergely László: </a:t>
              </a:r>
            </a:p>
            <a:p>
              <a:pPr marL="355600">
                <a:spcAft>
                  <a:spcPts val="2000"/>
                </a:spcAft>
              </a:pPr>
              <a:r>
                <a:rPr lang="hu-HU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Frontend, Backend</a:t>
              </a:r>
            </a:p>
          </p:txBody>
        </p:sp>
      </p:grpSp>
      <p:grpSp>
        <p:nvGrpSpPr>
          <p:cNvPr id="19" name="Csoportba foglalás 18">
            <a:extLst>
              <a:ext uri="{FF2B5EF4-FFF2-40B4-BE49-F238E27FC236}">
                <a16:creationId xmlns:a16="http://schemas.microsoft.com/office/drawing/2014/main" id="{9BE1E98B-BDD2-B959-D397-C4C3C7F1EF1B}"/>
              </a:ext>
            </a:extLst>
          </p:cNvPr>
          <p:cNvGrpSpPr/>
          <p:nvPr/>
        </p:nvGrpSpPr>
        <p:grpSpPr>
          <a:xfrm>
            <a:off x="2104728" y="1529265"/>
            <a:ext cx="4396689" cy="3572083"/>
            <a:chOff x="2104728" y="1529265"/>
            <a:chExt cx="4396689" cy="3572083"/>
          </a:xfrm>
        </p:grpSpPr>
        <p:sp>
          <p:nvSpPr>
            <p:cNvPr id="5" name="Téglalap: szamárfül 4">
              <a:extLst>
                <a:ext uri="{FF2B5EF4-FFF2-40B4-BE49-F238E27FC236}">
                  <a16:creationId xmlns:a16="http://schemas.microsoft.com/office/drawing/2014/main" id="{2EB6CCA0-BCD2-F1F5-BC01-B99E25731A51}"/>
                </a:ext>
              </a:extLst>
            </p:cNvPr>
            <p:cNvSpPr/>
            <p:nvPr/>
          </p:nvSpPr>
          <p:spPr>
            <a:xfrm>
              <a:off x="2104728" y="1529265"/>
              <a:ext cx="4396689" cy="3572083"/>
            </a:xfrm>
            <a:prstGeom prst="foldedCorner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sz="4400" dirty="0">
                <a:solidFill>
                  <a:schemeClr val="bg1"/>
                </a:solidFill>
              </a:endParaRPr>
            </a:p>
          </p:txBody>
        </p:sp>
        <p:grpSp>
          <p:nvGrpSpPr>
            <p:cNvPr id="15" name="Csoportba foglalás 14">
              <a:extLst>
                <a:ext uri="{FF2B5EF4-FFF2-40B4-BE49-F238E27FC236}">
                  <a16:creationId xmlns:a16="http://schemas.microsoft.com/office/drawing/2014/main" id="{BE57142A-651E-FE54-CE76-0248B6C87D13}"/>
                </a:ext>
              </a:extLst>
            </p:cNvPr>
            <p:cNvGrpSpPr/>
            <p:nvPr/>
          </p:nvGrpSpPr>
          <p:grpSpPr>
            <a:xfrm>
              <a:off x="3221252" y="1854461"/>
              <a:ext cx="2163640" cy="2809792"/>
              <a:chOff x="3948170" y="538949"/>
              <a:chExt cx="4469020" cy="5803653"/>
            </a:xfrm>
          </p:grpSpPr>
          <p:pic>
            <p:nvPicPr>
              <p:cNvPr id="16" name="Kép 15">
                <a:extLst>
                  <a:ext uri="{FF2B5EF4-FFF2-40B4-BE49-F238E27FC236}">
                    <a16:creationId xmlns:a16="http://schemas.microsoft.com/office/drawing/2014/main" id="{238ECB09-2A1A-2AA2-B036-7028DC656D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5" t="1196" r="1589" b="1029"/>
              <a:stretch>
                <a:fillRect/>
              </a:stretch>
            </p:blipFill>
            <p:spPr>
              <a:xfrm>
                <a:off x="3979655" y="538949"/>
                <a:ext cx="4111872" cy="4111871"/>
              </a:xfrm>
              <a:custGeom>
                <a:avLst/>
                <a:gdLst>
                  <a:gd name="csX0" fmla="*/ 1379454 w 2758908"/>
                  <a:gd name="csY0" fmla="*/ 0 h 2758908"/>
                  <a:gd name="csX1" fmla="*/ 2758908 w 2758908"/>
                  <a:gd name="csY1" fmla="*/ 1379454 h 2758908"/>
                  <a:gd name="csX2" fmla="*/ 1379454 w 2758908"/>
                  <a:gd name="csY2" fmla="*/ 2758908 h 2758908"/>
                  <a:gd name="csX3" fmla="*/ 0 w 2758908"/>
                  <a:gd name="csY3" fmla="*/ 1379454 h 2758908"/>
                  <a:gd name="csX4" fmla="*/ 1379454 w 2758908"/>
                  <a:gd name="csY4" fmla="*/ 0 h 2758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758908" h="2758908">
                    <a:moveTo>
                      <a:pt x="1379454" y="0"/>
                    </a:moveTo>
                    <a:cubicBezTo>
                      <a:pt x="2141305" y="0"/>
                      <a:pt x="2758908" y="617603"/>
                      <a:pt x="2758908" y="1379454"/>
                    </a:cubicBezTo>
                    <a:cubicBezTo>
                      <a:pt x="2758908" y="2141305"/>
                      <a:pt x="2141305" y="2758908"/>
                      <a:pt x="1379454" y="2758908"/>
                    </a:cubicBezTo>
                    <a:cubicBezTo>
                      <a:pt x="617603" y="2758908"/>
                      <a:pt x="0" y="2141305"/>
                      <a:pt x="0" y="1379454"/>
                    </a:cubicBezTo>
                    <a:cubicBezTo>
                      <a:pt x="0" y="617603"/>
                      <a:pt x="617603" y="0"/>
                      <a:pt x="1379454" y="0"/>
                    </a:cubicBezTo>
                    <a:close/>
                  </a:path>
                </a:pathLst>
              </a:custGeom>
              <a:effectLst>
                <a:outerShdw blurRad="508000" dist="50800" dir="5400000" sx="109000" sy="109000" algn="ctr" rotWithShape="0">
                  <a:srgbClr val="000000">
                    <a:alpha val="0"/>
                  </a:srgbClr>
                </a:outerShdw>
              </a:effectLst>
            </p:spPr>
          </p:pic>
          <p:sp>
            <p:nvSpPr>
              <p:cNvPr id="17" name="Szövegdoboz 16">
                <a:extLst>
                  <a:ext uri="{FF2B5EF4-FFF2-40B4-BE49-F238E27FC236}">
                    <a16:creationId xmlns:a16="http://schemas.microsoft.com/office/drawing/2014/main" id="{ABD34BE1-6E6C-AFDF-EFCD-1CCB9E8639EF}"/>
                  </a:ext>
                </a:extLst>
              </p:cNvPr>
              <p:cNvSpPr txBox="1"/>
              <p:nvPr/>
            </p:nvSpPr>
            <p:spPr>
              <a:xfrm>
                <a:off x="3948170" y="5261886"/>
                <a:ext cx="4469020" cy="10807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hu-HU" sz="2800" u="sng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hlinkClick r:id="rId21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Villám Meló</a:t>
                </a:r>
                <a:endParaRPr lang="hu-HU" sz="2800" u="sng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CD44B38D-B5BE-BEEE-E7BA-BE63EC8AED32}"/>
              </a:ext>
            </a:extLst>
          </p:cNvPr>
          <p:cNvGrpSpPr/>
          <p:nvPr/>
        </p:nvGrpSpPr>
        <p:grpSpPr>
          <a:xfrm>
            <a:off x="4621188" y="7573185"/>
            <a:ext cx="4431371" cy="779721"/>
            <a:chOff x="4812177" y="326477"/>
            <a:chExt cx="4431371" cy="779721"/>
          </a:xfrm>
        </p:grpSpPr>
        <p:sp>
          <p:nvSpPr>
            <p:cNvPr id="36" name="Téglalap: lekerekített 35">
              <a:extLst>
                <a:ext uri="{FF2B5EF4-FFF2-40B4-BE49-F238E27FC236}">
                  <a16:creationId xmlns:a16="http://schemas.microsoft.com/office/drawing/2014/main" id="{FEC19594-DD3A-4661-DFBD-C4CFCAC186AF}"/>
                </a:ext>
              </a:extLst>
            </p:cNvPr>
            <p:cNvSpPr/>
            <p:nvPr/>
          </p:nvSpPr>
          <p:spPr>
            <a:xfrm>
              <a:off x="4812177" y="326477"/>
              <a:ext cx="4431371" cy="779721"/>
            </a:xfrm>
            <a:prstGeom prst="roundRect">
              <a:avLst/>
            </a:prstGeom>
            <a:solidFill>
              <a:srgbClr val="B163A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" name="Szövegdoboz 37">
              <a:extLst>
                <a:ext uri="{FF2B5EF4-FFF2-40B4-BE49-F238E27FC236}">
                  <a16:creationId xmlns:a16="http://schemas.microsoft.com/office/drawing/2014/main" id="{769EE8CE-57A8-4A55-AA74-D3641DF51F8A}"/>
                </a:ext>
              </a:extLst>
            </p:cNvPr>
            <p:cNvSpPr txBox="1"/>
            <p:nvPr/>
          </p:nvSpPr>
          <p:spPr>
            <a:xfrm>
              <a:off x="5792161" y="362394"/>
              <a:ext cx="24384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4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Adatbázis</a:t>
              </a:r>
            </a:p>
          </p:txBody>
        </p: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CF087E6B-6E7D-9F91-B561-40C1A73BA14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977" y="9420976"/>
            <a:ext cx="2923990" cy="3867642"/>
          </a:xfrm>
          <a:prstGeom prst="rect">
            <a:avLst/>
          </a:prstGeom>
          <a:effectLst/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23B60979-753C-87CA-0209-EDFEB15A953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08131" y="9420976"/>
            <a:ext cx="3440542" cy="386764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D4ECDFF1-6288-B8C5-5CEF-5B0C561671B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837" y="10251790"/>
            <a:ext cx="2925652" cy="303447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36297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905</TotalTime>
  <Words>667</Words>
  <Application>Microsoft Office PowerPoint</Application>
  <PresentationFormat>Szélesvásznú</PresentationFormat>
  <Paragraphs>137</Paragraphs>
  <Slides>7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Dániel Boros</dc:creator>
  <cp:lastModifiedBy>Dorina Hencsey</cp:lastModifiedBy>
  <cp:revision>122</cp:revision>
  <dcterms:created xsi:type="dcterms:W3CDTF">2026-05-15T15:09:36Z</dcterms:created>
  <dcterms:modified xsi:type="dcterms:W3CDTF">2026-05-21T17:14:00Z</dcterms:modified>
</cp:coreProperties>
</file>